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lay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a2e8b79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ba2e8b79c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a2e8b79c_1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ba2e8b79c_11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ba2e8b79c_1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a2e8b79c_1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ba2e8b79c_11_1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ba2e8b79c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ba2e8b79c_3_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a2e8b79c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ba2e8b79c_3_1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a2e8b79c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ba2e8b79c_3_1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ba2e8b79c_1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ba2e8b79c_11_25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a2e8b79c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a2e8b79c_3_15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ba2e8b79c_1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ba2e8b79c_11_9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a2e8b79c_1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ba2e8b79c_11_31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a2e8b79c_1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ba2e8b79c_11_33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a2e8b79c_1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ba2e8b79c_11_14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548655" y="1062990"/>
            <a:ext cx="8092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Passage du POC au MVP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Chatbot intelligent &amp; recommandations d’événements — Puls-Events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2057455" y="2366010"/>
            <a:ext cx="5006473" cy="85725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Proposer une architecture scalable, un backlog, un planning et une estimation des coûts pour transformer le POC en MVP.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209475" y="1066675"/>
            <a:ext cx="88335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Bonjour,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Je vais vous présenter mon travail réalisé pour Puls-Events</a:t>
            </a:r>
            <a:r>
              <a:rPr lang="fr" sz="1200">
                <a:solidFill>
                  <a:schemeClr val="lt1"/>
                </a:solidFill>
              </a:rPr>
              <a:t>une plateforme qui permet de découvrir des événements culturels.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lt1"/>
                </a:solidFill>
              </a:rPr>
              <a:t>Un premier POC de chatbot RAG a déjà été réalisé avec environ 3 880 événements provenant d’OpenAgenda.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L'objectif de cette mission est de faire évoluer un premier prototype de chatbot, appelé POC, vers un MVP, c'est-à-dire une première version suffisamment robuste pour pouvoir être utilisée dans des conditions réelles.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Je vais donc présenter rapidement le point de départ, les limites du POC, les besoins identifiés, l'architecture que je propose, le backlog, le planning et enfin l'estimation des coûts.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L'idée principale est de partir de ce qui existe déjà pour l'améliorer progressivement, plutôt que de repartir de zéro.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Contexte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1. Point de départ : le POC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548655" y="1062990"/>
            <a:ext cx="2057400" cy="13716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3 880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événements OpenAgenda exploités</a:t>
            </a:r>
            <a:endParaRPr sz="1100"/>
          </a:p>
        </p:txBody>
      </p:sp>
      <p:sp>
        <p:nvSpPr>
          <p:cNvPr id="145" name="Google Shape;145;p28"/>
          <p:cNvSpPr/>
          <p:nvPr/>
        </p:nvSpPr>
        <p:spPr>
          <a:xfrm>
            <a:off x="2811854" y="1062990"/>
            <a:ext cx="2057400" cy="137160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Recherche sémantique + génération Mistral</a:t>
            </a:r>
            <a:endParaRPr sz="1100"/>
          </a:p>
        </p:txBody>
      </p:sp>
      <p:sp>
        <p:nvSpPr>
          <p:cNvPr id="146" name="Google Shape;146;p28"/>
          <p:cNvSpPr/>
          <p:nvPr/>
        </p:nvSpPr>
        <p:spPr>
          <a:xfrm>
            <a:off x="5075055" y="1062990"/>
            <a:ext cx="2057400" cy="13716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FAISS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Base vectorielle locale</a:t>
            </a:r>
            <a:endParaRPr sz="1100"/>
          </a:p>
        </p:txBody>
      </p:sp>
      <p:sp>
        <p:nvSpPr>
          <p:cNvPr id="147" name="Google Shape;147;p28"/>
          <p:cNvSpPr/>
          <p:nvPr/>
        </p:nvSpPr>
        <p:spPr>
          <a:xfrm>
            <a:off x="7338256" y="1062990"/>
            <a:ext cx="1234500" cy="137160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 sz="1100"/>
          </a:p>
        </p:txBody>
      </p:sp>
      <p:sp>
        <p:nvSpPr>
          <p:cNvPr id="148" name="Google Shape;148;p28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150" name="Google Shape;150;p28"/>
          <p:cNvSpPr txBox="1"/>
          <p:nvPr/>
        </p:nvSpPr>
        <p:spPr>
          <a:xfrm>
            <a:off x="548650" y="2635150"/>
            <a:ext cx="88245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projet part d’un POC qui fonctionne déjà.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Il utilise environ 3 880 événements provenant d’OpenAgenda.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chatbot utilise une architecture RAG : il recherche d’abord les informations pertinentes, puis Mistral génère la réponse.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POC utilise FAISS pour la recherche vectorielle et Streamlit pour l’interface.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Mais cette version reste limitée, notamment parce qu’elle n’a pas de vraie mémoire conversationnelle et qu’elle prend peu en compte la localisation de l’utilisateur.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2. Résultats et limites du POC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466356" y="672084"/>
            <a:ext cx="809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 résultats orientent directement les choix du MVP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7" name="Google Shape;157;p29"/>
          <p:cNvSpPr/>
          <p:nvPr/>
        </p:nvSpPr>
        <p:spPr>
          <a:xfrm>
            <a:off x="685818" y="1062990"/>
            <a:ext cx="2263200" cy="123444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0,575</a:t>
            </a:r>
            <a:endParaRPr sz="1100"/>
          </a:p>
        </p:txBody>
      </p:sp>
      <p:sp>
        <p:nvSpPr>
          <p:cNvPr id="158" name="Google Shape;158;p29"/>
          <p:cNvSpPr/>
          <p:nvPr/>
        </p:nvSpPr>
        <p:spPr>
          <a:xfrm>
            <a:off x="3429091" y="1062990"/>
            <a:ext cx="2263200" cy="123444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Context Precision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0,422</a:t>
            </a:r>
            <a:endParaRPr sz="1100"/>
          </a:p>
        </p:txBody>
      </p:sp>
      <p:sp>
        <p:nvSpPr>
          <p:cNvPr id="159" name="Google Shape;159;p29"/>
          <p:cNvSpPr/>
          <p:nvPr/>
        </p:nvSpPr>
        <p:spPr>
          <a:xfrm>
            <a:off x="6172365" y="1062990"/>
            <a:ext cx="2263200" cy="1234440"/>
          </a:xfrm>
          <a:prstGeom prst="roundRect">
            <a:avLst>
              <a:gd fmla="val 16667" name="adj"/>
            </a:avLst>
          </a:prstGeom>
          <a:solidFill>
            <a:srgbClr val="FCE8EB"/>
          </a:solidFill>
          <a:ln cap="flat" cmpd="sng" w="19050">
            <a:solidFill>
              <a:srgbClr val="DC4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Context Recall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0,233</a:t>
            </a:r>
            <a:endParaRPr sz="1100"/>
          </a:p>
        </p:txBody>
      </p:sp>
      <p:sp>
        <p:nvSpPr>
          <p:cNvPr id="160" name="Google Shape;160;p29"/>
          <p:cNvSpPr/>
          <p:nvPr/>
        </p:nvSpPr>
        <p:spPr>
          <a:xfrm>
            <a:off x="445782" y="4882896"/>
            <a:ext cx="8229819" cy="13716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8161238" y="4910328"/>
            <a:ext cx="4800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162" name="Google Shape;162;p29"/>
          <p:cNvSpPr txBox="1"/>
          <p:nvPr/>
        </p:nvSpPr>
        <p:spPr>
          <a:xfrm>
            <a:off x="466350" y="2728000"/>
            <a:ext cx="82299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" sz="1200">
                <a:solidFill>
                  <a:schemeClr val="lt1"/>
                </a:solidFill>
              </a:rPr>
              <a:t>Le Context Recall à 0,233 montre que certaines informations nécessaires ne sont pas toujours récupérées.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À partir de ce constat, j'ai choisi de commencer par améliorer la recherche, notamment avec les filtres géographiques et les métadonnées.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L'objectif est de mieux sélectionner les événements avant de demander à Mistral de générer la réponse.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La recherche hybride et le reranking restent prévus comme améliorations possibles dans un deuxième temps.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3. Besoins prioritaires du MVP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480073" y="1062990"/>
            <a:ext cx="1886000" cy="174879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01 — Mémoire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Comprendre les questions de suivi</a:t>
            </a:r>
            <a:endParaRPr sz="1100"/>
          </a:p>
        </p:txBody>
      </p:sp>
      <p:sp>
        <p:nvSpPr>
          <p:cNvPr id="169" name="Google Shape;169;p30"/>
          <p:cNvSpPr/>
          <p:nvPr/>
        </p:nvSpPr>
        <p:spPr>
          <a:xfrm>
            <a:off x="2606109" y="1062990"/>
            <a:ext cx="1886000" cy="174879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02 — Géographie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Adapter la recherche à une zone</a:t>
            </a:r>
            <a:endParaRPr sz="1100"/>
          </a:p>
        </p:txBody>
      </p:sp>
      <p:sp>
        <p:nvSpPr>
          <p:cNvPr id="170" name="Google Shape;170;p30"/>
          <p:cNvSpPr/>
          <p:nvPr/>
        </p:nvSpPr>
        <p:spPr>
          <a:xfrm>
            <a:off x="4732146" y="1062990"/>
            <a:ext cx="1886000" cy="1748790"/>
          </a:xfrm>
          <a:prstGeom prst="roundRect">
            <a:avLst>
              <a:gd fmla="val 16667" name="adj"/>
            </a:avLst>
          </a:prstGeom>
          <a:solidFill>
            <a:srgbClr val="FCE8EB"/>
          </a:solidFill>
          <a:ln cap="flat" cmpd="sng" w="19050">
            <a:solidFill>
              <a:srgbClr val="DC4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03 — Recherche Web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Compléter les informations récentes</a:t>
            </a:r>
            <a:endParaRPr sz="1100"/>
          </a:p>
        </p:txBody>
      </p:sp>
      <p:sp>
        <p:nvSpPr>
          <p:cNvPr id="171" name="Google Shape;171;p30"/>
          <p:cNvSpPr/>
          <p:nvPr/>
        </p:nvSpPr>
        <p:spPr>
          <a:xfrm>
            <a:off x="6858183" y="1062990"/>
            <a:ext cx="1886000" cy="174879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04 — Monitoring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Suivre performance, erreurs et qualité</a:t>
            </a:r>
            <a:endParaRPr sz="1100"/>
          </a:p>
        </p:txBody>
      </p:sp>
      <p:sp>
        <p:nvSpPr>
          <p:cNvPr id="172" name="Google Shape;172;p30"/>
          <p:cNvSpPr/>
          <p:nvPr/>
        </p:nvSpPr>
        <p:spPr>
          <a:xfrm>
            <a:off x="445782" y="4882896"/>
            <a:ext cx="8229819" cy="13716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8161238" y="4910328"/>
            <a:ext cx="4800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174" name="Google Shape;174;p30"/>
          <p:cNvSpPr txBox="1"/>
          <p:nvPr/>
        </p:nvSpPr>
        <p:spPr>
          <a:xfrm>
            <a:off x="379650" y="2986850"/>
            <a:ext cx="90234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Quatre besoins principaux ont été retenus.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Premièrement, une mémoire conversationnelle pour comprendre les questions de suivi.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Deuxièmement, la géolocalisation pour proposer des événements dans une zone donnée.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Troisièmement, une recherche Web pour compléter les informations lorsqu’elles manquent ou sont récentes.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Et enfin, un monitoring pour suivre les erreurs, les performances et la qualité des réponses.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4. Architecture cible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466356" y="672084"/>
            <a:ext cx="809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Une architecture simple à expliquer : question → traitement → recherche → réponse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480073" y="994410"/>
            <a:ext cx="1371637" cy="75438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Utilisateur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Web / Mobile</a:t>
            </a:r>
            <a:endParaRPr sz="1100"/>
          </a:p>
        </p:txBody>
      </p:sp>
      <p:sp>
        <p:nvSpPr>
          <p:cNvPr id="182" name="Google Shape;182;p31"/>
          <p:cNvSpPr/>
          <p:nvPr/>
        </p:nvSpPr>
        <p:spPr>
          <a:xfrm>
            <a:off x="2126037" y="994410"/>
            <a:ext cx="1371637" cy="75438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Point d’entrée</a:t>
            </a:r>
            <a:endParaRPr sz="1100"/>
          </a:p>
        </p:txBody>
      </p:sp>
      <p:sp>
        <p:nvSpPr>
          <p:cNvPr id="183" name="Google Shape;183;p31"/>
          <p:cNvSpPr/>
          <p:nvPr/>
        </p:nvSpPr>
        <p:spPr>
          <a:xfrm>
            <a:off x="3772001" y="994410"/>
            <a:ext cx="1508800" cy="75438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FastAPI / Fargate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sz="1100"/>
          </a:p>
        </p:txBody>
      </p:sp>
      <p:sp>
        <p:nvSpPr>
          <p:cNvPr id="184" name="Google Shape;184;p31"/>
          <p:cNvSpPr/>
          <p:nvPr/>
        </p:nvSpPr>
        <p:spPr>
          <a:xfrm>
            <a:off x="5555128" y="994410"/>
            <a:ext cx="1508800" cy="75438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Qdrant Cloud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Recherche événements</a:t>
            </a:r>
            <a:endParaRPr sz="1100"/>
          </a:p>
        </p:txBody>
      </p:sp>
      <p:sp>
        <p:nvSpPr>
          <p:cNvPr id="185" name="Google Shape;185;p31"/>
          <p:cNvSpPr/>
          <p:nvPr/>
        </p:nvSpPr>
        <p:spPr>
          <a:xfrm>
            <a:off x="7338256" y="994410"/>
            <a:ext cx="1303055" cy="75438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Mistral AI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Réponse</a:t>
            </a:r>
            <a:endParaRPr sz="1100"/>
          </a:p>
        </p:txBody>
      </p:sp>
      <p:cxnSp>
        <p:nvCxnSpPr>
          <p:cNvPr id="186" name="Google Shape;186;p31"/>
          <p:cNvCxnSpPr/>
          <p:nvPr/>
        </p:nvCxnSpPr>
        <p:spPr>
          <a:xfrm>
            <a:off x="1851709" y="1371600"/>
            <a:ext cx="274327" cy="0"/>
          </a:xfrm>
          <a:prstGeom prst="straightConnector1">
            <a:avLst/>
          </a:prstGeom>
          <a:noFill/>
          <a:ln cap="flat" cmpd="sng" w="2540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7" name="Google Shape;187;p31"/>
          <p:cNvCxnSpPr/>
          <p:nvPr/>
        </p:nvCxnSpPr>
        <p:spPr>
          <a:xfrm>
            <a:off x="3497673" y="1371600"/>
            <a:ext cx="274327" cy="0"/>
          </a:xfrm>
          <a:prstGeom prst="straightConnector1">
            <a:avLst/>
          </a:prstGeom>
          <a:noFill/>
          <a:ln cap="flat" cmpd="sng" w="2540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8" name="Google Shape;188;p31"/>
          <p:cNvCxnSpPr/>
          <p:nvPr/>
        </p:nvCxnSpPr>
        <p:spPr>
          <a:xfrm>
            <a:off x="5280801" y="1371600"/>
            <a:ext cx="274327" cy="0"/>
          </a:xfrm>
          <a:prstGeom prst="straightConnector1">
            <a:avLst/>
          </a:prstGeom>
          <a:noFill/>
          <a:ln cap="flat" cmpd="sng" w="2540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9" name="Google Shape;189;p31"/>
          <p:cNvCxnSpPr/>
          <p:nvPr/>
        </p:nvCxnSpPr>
        <p:spPr>
          <a:xfrm>
            <a:off x="7063928" y="1371600"/>
            <a:ext cx="274327" cy="0"/>
          </a:xfrm>
          <a:prstGeom prst="straightConnector1">
            <a:avLst/>
          </a:prstGeom>
          <a:noFill/>
          <a:ln cap="flat" cmpd="sng" w="2540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31"/>
          <p:cNvSpPr/>
          <p:nvPr/>
        </p:nvSpPr>
        <p:spPr>
          <a:xfrm>
            <a:off x="1371637" y="2297430"/>
            <a:ext cx="1714546" cy="85725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Mémoire conversationnelle</a:t>
            </a:r>
            <a:endParaRPr sz="1100"/>
          </a:p>
        </p:txBody>
      </p:sp>
      <p:sp>
        <p:nvSpPr>
          <p:cNvPr id="191" name="Google Shape;191;p31"/>
          <p:cNvSpPr/>
          <p:nvPr/>
        </p:nvSpPr>
        <p:spPr>
          <a:xfrm>
            <a:off x="3634837" y="2297430"/>
            <a:ext cx="1714546" cy="857250"/>
          </a:xfrm>
          <a:prstGeom prst="roundRect">
            <a:avLst>
              <a:gd fmla="val 16667" name="adj"/>
            </a:avLst>
          </a:prstGeom>
          <a:solidFill>
            <a:srgbClr val="FCE8EB"/>
          </a:solidFill>
          <a:ln cap="flat" cmpd="sng" w="19050">
            <a:solidFill>
              <a:srgbClr val="DC4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smolagents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Recherche Web si nécessaire</a:t>
            </a:r>
            <a:endParaRPr sz="1100"/>
          </a:p>
        </p:txBody>
      </p:sp>
      <p:sp>
        <p:nvSpPr>
          <p:cNvPr id="192" name="Google Shape;192;p31"/>
          <p:cNvSpPr/>
          <p:nvPr/>
        </p:nvSpPr>
        <p:spPr>
          <a:xfrm>
            <a:off x="5898037" y="2297430"/>
            <a:ext cx="1714546" cy="85725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CloudWatch + LangSmith</a:t>
            </a:r>
            <a:endParaRPr sz="1100"/>
          </a:p>
        </p:txBody>
      </p:sp>
      <p:cxnSp>
        <p:nvCxnSpPr>
          <p:cNvPr id="193" name="Google Shape;193;p31"/>
          <p:cNvCxnSpPr/>
          <p:nvPr/>
        </p:nvCxnSpPr>
        <p:spPr>
          <a:xfrm flipH="1">
            <a:off x="2228909" y="1748790"/>
            <a:ext cx="2297491" cy="548640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4" name="Google Shape;194;p31"/>
          <p:cNvCxnSpPr/>
          <p:nvPr/>
        </p:nvCxnSpPr>
        <p:spPr>
          <a:xfrm flipH="1">
            <a:off x="4492110" y="1748790"/>
            <a:ext cx="34291" cy="548640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31"/>
          <p:cNvCxnSpPr/>
          <p:nvPr/>
        </p:nvCxnSpPr>
        <p:spPr>
          <a:xfrm>
            <a:off x="4526401" y="1748790"/>
            <a:ext cx="2228909" cy="548640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6" name="Google Shape;196;p31"/>
          <p:cNvSpPr/>
          <p:nvPr/>
        </p:nvSpPr>
        <p:spPr>
          <a:xfrm>
            <a:off x="617236" y="3669030"/>
            <a:ext cx="1920291" cy="68580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OpenAgenda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Alimentation / mise à jour des événements</a:t>
            </a:r>
            <a:endParaRPr sz="1100"/>
          </a:p>
        </p:txBody>
      </p:sp>
      <p:cxnSp>
        <p:nvCxnSpPr>
          <p:cNvPr id="197" name="Google Shape;197;p31"/>
          <p:cNvCxnSpPr/>
          <p:nvPr/>
        </p:nvCxnSpPr>
        <p:spPr>
          <a:xfrm>
            <a:off x="2537528" y="4011930"/>
            <a:ext cx="6035700" cy="22800"/>
          </a:xfrm>
          <a:prstGeom prst="straightConnector1">
            <a:avLst/>
          </a:prstGeom>
          <a:noFill/>
          <a:ln cap="flat" cmpd="sng" w="19050">
            <a:solidFill>
              <a:srgbClr val="F5962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31"/>
          <p:cNvSpPr/>
          <p:nvPr/>
        </p:nvSpPr>
        <p:spPr>
          <a:xfrm>
            <a:off x="445782" y="4882896"/>
            <a:ext cx="8229819" cy="13716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8161238" y="4910328"/>
            <a:ext cx="4800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cxnSp>
        <p:nvCxnSpPr>
          <p:cNvPr id="200" name="Google Shape;200;p31"/>
          <p:cNvCxnSpPr/>
          <p:nvPr/>
        </p:nvCxnSpPr>
        <p:spPr>
          <a:xfrm>
            <a:off x="8552450" y="1993350"/>
            <a:ext cx="20700" cy="2051700"/>
          </a:xfrm>
          <a:prstGeom prst="straightConnector1">
            <a:avLst/>
          </a:prstGeom>
          <a:noFill/>
          <a:ln cap="flat" cmpd="sng" w="19050">
            <a:solidFill>
              <a:srgbClr val="F5962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01" name="Google Shape;201;p31"/>
          <p:cNvCxnSpPr>
            <a:stCxn id="184" idx="2"/>
          </p:cNvCxnSpPr>
          <p:nvPr/>
        </p:nvCxnSpPr>
        <p:spPr>
          <a:xfrm>
            <a:off x="6309528" y="1748790"/>
            <a:ext cx="14100" cy="275700"/>
          </a:xfrm>
          <a:prstGeom prst="straightConnector1">
            <a:avLst/>
          </a:prstGeom>
          <a:noFill/>
          <a:ln cap="flat" cmpd="sng" w="19050">
            <a:solidFill>
              <a:srgbClr val="F5962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02" name="Google Shape;202;p31"/>
          <p:cNvCxnSpPr/>
          <p:nvPr/>
        </p:nvCxnSpPr>
        <p:spPr>
          <a:xfrm>
            <a:off x="6407050" y="2014175"/>
            <a:ext cx="2082900" cy="0"/>
          </a:xfrm>
          <a:prstGeom prst="straightConnector1">
            <a:avLst/>
          </a:prstGeom>
          <a:noFill/>
          <a:ln cap="flat" cmpd="sng" w="19050">
            <a:solidFill>
              <a:srgbClr val="F5962D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5. Pourquoi AWS ?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617236" y="994410"/>
            <a:ext cx="2331900" cy="150870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Écosystème mature pour les conteneurs, le monitoring et les services managés.</a:t>
            </a:r>
            <a:endParaRPr sz="1100"/>
          </a:p>
        </p:txBody>
      </p:sp>
      <p:sp>
        <p:nvSpPr>
          <p:cNvPr id="209" name="Google Shape;209;p32"/>
          <p:cNvSpPr/>
          <p:nvPr/>
        </p:nvSpPr>
        <p:spPr>
          <a:xfrm>
            <a:off x="3394800" y="994410"/>
            <a:ext cx="2331900" cy="15087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ECS Fargate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Héberger FastAPI en conteneur sans gérer directement les serveurs.</a:t>
            </a:r>
            <a:endParaRPr sz="1100"/>
          </a:p>
        </p:txBody>
      </p:sp>
      <p:sp>
        <p:nvSpPr>
          <p:cNvPr id="210" name="Google Shape;210;p32"/>
          <p:cNvSpPr/>
          <p:nvPr/>
        </p:nvSpPr>
        <p:spPr>
          <a:xfrm>
            <a:off x="6172365" y="994410"/>
            <a:ext cx="2331900" cy="150870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ElastiCache Redis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Stocker la mémoire conversationnelle avec une faible latence.</a:t>
            </a:r>
            <a:endParaRPr sz="1100"/>
          </a:p>
        </p:txBody>
      </p:sp>
      <p:sp>
        <p:nvSpPr>
          <p:cNvPr id="211" name="Google Shape;211;p32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213" name="Google Shape;213;p32"/>
          <p:cNvSpPr txBox="1"/>
          <p:nvPr/>
        </p:nvSpPr>
        <p:spPr>
          <a:xfrm>
            <a:off x="617225" y="2650725"/>
            <a:ext cx="76311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J’ai choisi AWS pour ses services cloud et ses solutions managées.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Par exemple, ECS Fargate permet d’héberger l’application dans un conteneur sans gérer directement les serveurs.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Pour la base vectorielle, le POC utilisait FAISS.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Pour le MVP, je propose Qdrant Cloud, qui est mieux adapté à une application évolutive et qui permet notamment d’utiliser des filtres géographiques.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Une clé API et une limite de requêtes permettent également de mieux contrôler les coûts.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6. Macro backlog du MVP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466356" y="672084"/>
            <a:ext cx="809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Priorisation MoSCoW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20" name="Google Shape;220;p33"/>
          <p:cNvSpPr/>
          <p:nvPr/>
        </p:nvSpPr>
        <p:spPr>
          <a:xfrm>
            <a:off x="548655" y="925830"/>
            <a:ext cx="3909300" cy="32577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MUST-HAVE — 28 jours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F01 Socle RAG — 2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F02 Mémoire — 4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F03 Localisation — 4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F04 Recherche Web — 5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F05 Sources — 2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F06 Monitoring — 3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F07 Infrastructure scalable — 5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F08 Tests / validation — 3 j</a:t>
            </a:r>
            <a:endParaRPr sz="1200"/>
          </a:p>
        </p:txBody>
      </p:sp>
      <p:sp>
        <p:nvSpPr>
          <p:cNvPr id="221" name="Google Shape;221;p33"/>
          <p:cNvSpPr/>
          <p:nvPr/>
        </p:nvSpPr>
        <p:spPr>
          <a:xfrm>
            <a:off x="4697855" y="925830"/>
            <a:ext cx="3909300" cy="32577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NICE-TO-HAVE — 15 jours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F09 Recherche hybride — 4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F10 Reranking — 3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F11 Filtres avancés — 3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F12 Personnalisation — 5 j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Total projet complet : 43 jours</a:t>
            </a:r>
            <a:endParaRPr sz="1200"/>
          </a:p>
        </p:txBody>
      </p:sp>
      <p:sp>
        <p:nvSpPr>
          <p:cNvPr id="222" name="Google Shape;222;p33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8161238" y="4910328"/>
            <a:ext cx="480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7. Planning de la mission de cadrage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466356" y="682499"/>
            <a:ext cx="809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 semaines — l’effort du backlog correspond au développement théorique du MVP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480073" y="106299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Cadrage</a:t>
            </a:r>
            <a:endParaRPr sz="1200"/>
          </a:p>
        </p:txBody>
      </p:sp>
      <p:sp>
        <p:nvSpPr>
          <p:cNvPr id="231" name="Google Shape;231;p34"/>
          <p:cNvSpPr/>
          <p:nvPr/>
        </p:nvSpPr>
        <p:spPr>
          <a:xfrm>
            <a:off x="2160328" y="106299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Veille</a:t>
            </a:r>
            <a:endParaRPr sz="1200"/>
          </a:p>
        </p:txBody>
      </p:sp>
      <p:sp>
        <p:nvSpPr>
          <p:cNvPr id="232" name="Google Shape;232;p34"/>
          <p:cNvSpPr/>
          <p:nvPr/>
        </p:nvSpPr>
        <p:spPr>
          <a:xfrm>
            <a:off x="3840582" y="106299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1200"/>
          </a:p>
        </p:txBody>
      </p:sp>
      <p:sp>
        <p:nvSpPr>
          <p:cNvPr id="233" name="Google Shape;233;p34"/>
          <p:cNvSpPr/>
          <p:nvPr/>
        </p:nvSpPr>
        <p:spPr>
          <a:xfrm>
            <a:off x="5520837" y="106299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Backlog &amp; coûts</a:t>
            </a:r>
            <a:endParaRPr sz="1200"/>
          </a:p>
        </p:txBody>
      </p:sp>
      <p:sp>
        <p:nvSpPr>
          <p:cNvPr id="234" name="Google Shape;234;p34"/>
          <p:cNvSpPr/>
          <p:nvPr/>
        </p:nvSpPr>
        <p:spPr>
          <a:xfrm>
            <a:off x="7201092" y="106299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S5–S6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Mémoire + géographie</a:t>
            </a:r>
            <a:endParaRPr sz="1200"/>
          </a:p>
        </p:txBody>
      </p:sp>
      <p:sp>
        <p:nvSpPr>
          <p:cNvPr id="235" name="Google Shape;235;p34"/>
          <p:cNvSpPr/>
          <p:nvPr/>
        </p:nvSpPr>
        <p:spPr>
          <a:xfrm>
            <a:off x="480073" y="257175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Recherche Web</a:t>
            </a:r>
            <a:endParaRPr sz="1200"/>
          </a:p>
        </p:txBody>
      </p:sp>
      <p:sp>
        <p:nvSpPr>
          <p:cNvPr id="236" name="Google Shape;236;p34"/>
          <p:cNvSpPr/>
          <p:nvPr/>
        </p:nvSpPr>
        <p:spPr>
          <a:xfrm>
            <a:off x="2160328" y="257175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sz="1200"/>
          </a:p>
        </p:txBody>
      </p:sp>
      <p:sp>
        <p:nvSpPr>
          <p:cNvPr id="237" name="Google Shape;237;p34"/>
          <p:cNvSpPr/>
          <p:nvPr/>
        </p:nvSpPr>
        <p:spPr>
          <a:xfrm>
            <a:off x="3840582" y="257175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sz="1200"/>
          </a:p>
        </p:txBody>
      </p:sp>
      <p:sp>
        <p:nvSpPr>
          <p:cNvPr id="238" name="Google Shape;238;p34"/>
          <p:cNvSpPr/>
          <p:nvPr/>
        </p:nvSpPr>
        <p:spPr>
          <a:xfrm>
            <a:off x="5520837" y="2571750"/>
            <a:ext cx="1440300" cy="9945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Finalisation</a:t>
            </a:r>
            <a:endParaRPr sz="1200"/>
          </a:p>
        </p:txBody>
      </p:sp>
      <p:sp>
        <p:nvSpPr>
          <p:cNvPr id="239" name="Google Shape;239;p34"/>
          <p:cNvSpPr txBox="1"/>
          <p:nvPr/>
        </p:nvSpPr>
        <p:spPr>
          <a:xfrm>
            <a:off x="685825" y="4114800"/>
            <a:ext cx="8039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Jalons : cadrage validé → architecture validée → MVP structuré → spécifications validées → validation finale.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8. Estimation financière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47" name="Google Shape;247;p35"/>
          <p:cNvSpPr/>
          <p:nvPr/>
        </p:nvSpPr>
        <p:spPr>
          <a:xfrm>
            <a:off x="548655" y="960120"/>
            <a:ext cx="2400300" cy="109740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30 jours × 400 €</a:t>
            </a:r>
            <a:br>
              <a:rPr lang="fr" sz="14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4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= 12 000 € HT</a:t>
            </a:r>
            <a:endParaRPr sz="1100"/>
          </a:p>
        </p:txBody>
      </p:sp>
      <p:sp>
        <p:nvSpPr>
          <p:cNvPr id="248" name="Google Shape;248;p35"/>
          <p:cNvSpPr/>
          <p:nvPr/>
        </p:nvSpPr>
        <p:spPr>
          <a:xfrm>
            <a:off x="3223346" y="925830"/>
            <a:ext cx="1234500" cy="377100"/>
          </a:xfrm>
          <a:prstGeom prst="rect">
            <a:avLst/>
          </a:prstGeom>
          <a:solidFill>
            <a:srgbClr val="192D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Charge</a:t>
            </a:r>
            <a:endParaRPr sz="1200"/>
          </a:p>
        </p:txBody>
      </p:sp>
      <p:sp>
        <p:nvSpPr>
          <p:cNvPr id="249" name="Google Shape;249;p35"/>
          <p:cNvSpPr/>
          <p:nvPr/>
        </p:nvSpPr>
        <p:spPr>
          <a:xfrm>
            <a:off x="4492110" y="925830"/>
            <a:ext cx="1234500" cy="377100"/>
          </a:xfrm>
          <a:prstGeom prst="rect">
            <a:avLst/>
          </a:prstGeom>
          <a:solidFill>
            <a:srgbClr val="192D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Faible</a:t>
            </a:r>
            <a:endParaRPr sz="1200"/>
          </a:p>
        </p:txBody>
      </p:sp>
      <p:sp>
        <p:nvSpPr>
          <p:cNvPr id="250" name="Google Shape;250;p35"/>
          <p:cNvSpPr/>
          <p:nvPr/>
        </p:nvSpPr>
        <p:spPr>
          <a:xfrm>
            <a:off x="5760874" y="925830"/>
            <a:ext cx="1234500" cy="377100"/>
          </a:xfrm>
          <a:prstGeom prst="rect">
            <a:avLst/>
          </a:prstGeom>
          <a:solidFill>
            <a:srgbClr val="192D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Moyen</a:t>
            </a:r>
            <a:endParaRPr sz="1200"/>
          </a:p>
        </p:txBody>
      </p:sp>
      <p:sp>
        <p:nvSpPr>
          <p:cNvPr id="251" name="Google Shape;251;p35"/>
          <p:cNvSpPr/>
          <p:nvPr/>
        </p:nvSpPr>
        <p:spPr>
          <a:xfrm>
            <a:off x="7029637" y="925830"/>
            <a:ext cx="1234500" cy="377100"/>
          </a:xfrm>
          <a:prstGeom prst="rect">
            <a:avLst/>
          </a:prstGeom>
          <a:solidFill>
            <a:srgbClr val="192D4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Fort</a:t>
            </a:r>
            <a:endParaRPr sz="1200"/>
          </a:p>
        </p:txBody>
      </p:sp>
      <p:sp>
        <p:nvSpPr>
          <p:cNvPr id="252" name="Google Shape;252;p35"/>
          <p:cNvSpPr/>
          <p:nvPr/>
        </p:nvSpPr>
        <p:spPr>
          <a:xfrm>
            <a:off x="3223346" y="1303020"/>
            <a:ext cx="1234500" cy="48000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232328"/>
                </a:solidFill>
                <a:latin typeface="Calibri"/>
                <a:ea typeface="Calibri"/>
                <a:cs typeface="Calibri"/>
                <a:sym typeface="Calibri"/>
              </a:rPr>
              <a:t>OPEX mensuel estimé</a:t>
            </a:r>
            <a:endParaRPr sz="1200"/>
          </a:p>
        </p:txBody>
      </p:sp>
      <p:sp>
        <p:nvSpPr>
          <p:cNvPr id="253" name="Google Shape;253;p35"/>
          <p:cNvSpPr/>
          <p:nvPr/>
        </p:nvSpPr>
        <p:spPr>
          <a:xfrm>
            <a:off x="4492110" y="1303020"/>
            <a:ext cx="1234500" cy="4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" sz="1200">
                <a:solidFill>
                  <a:srgbClr val="232328"/>
                </a:solidFill>
                <a:latin typeface="Calibri"/>
                <a:ea typeface="Calibri"/>
                <a:cs typeface="Calibri"/>
                <a:sym typeface="Calibri"/>
              </a:rPr>
              <a:t>37 €</a:t>
            </a:r>
            <a:endParaRPr sz="1200"/>
          </a:p>
        </p:txBody>
      </p:sp>
      <p:sp>
        <p:nvSpPr>
          <p:cNvPr id="254" name="Google Shape;254;p35"/>
          <p:cNvSpPr/>
          <p:nvPr/>
        </p:nvSpPr>
        <p:spPr>
          <a:xfrm>
            <a:off x="5760874" y="1303020"/>
            <a:ext cx="1234500" cy="4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" sz="1200">
                <a:solidFill>
                  <a:srgbClr val="232328"/>
                </a:solidFill>
                <a:latin typeface="Calibri"/>
                <a:ea typeface="Calibri"/>
                <a:cs typeface="Calibri"/>
                <a:sym typeface="Calibri"/>
              </a:rPr>
              <a:t>225 €</a:t>
            </a:r>
            <a:endParaRPr sz="1200"/>
          </a:p>
        </p:txBody>
      </p:sp>
      <p:sp>
        <p:nvSpPr>
          <p:cNvPr id="255" name="Google Shape;255;p35"/>
          <p:cNvSpPr/>
          <p:nvPr/>
        </p:nvSpPr>
        <p:spPr>
          <a:xfrm>
            <a:off x="7029637" y="1303020"/>
            <a:ext cx="1234500" cy="4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" sz="1200">
                <a:solidFill>
                  <a:srgbClr val="232328"/>
                </a:solidFill>
                <a:latin typeface="Calibri"/>
                <a:ea typeface="Calibri"/>
                <a:cs typeface="Calibri"/>
                <a:sym typeface="Calibri"/>
              </a:rPr>
              <a:t>1 215 €</a:t>
            </a:r>
            <a:endParaRPr sz="1200"/>
          </a:p>
        </p:txBody>
      </p:sp>
      <p:sp>
        <p:nvSpPr>
          <p:cNvPr id="256" name="Google Shape;256;p35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  <p:sp>
        <p:nvSpPr>
          <p:cNvPr id="258" name="Google Shape;258;p35"/>
          <p:cNvSpPr txBox="1"/>
          <p:nvPr/>
        </p:nvSpPr>
        <p:spPr>
          <a:xfrm>
            <a:off x="325425" y="3263275"/>
            <a:ext cx="86412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coût de développement du socle est estimé à environ </a:t>
            </a:r>
            <a:r>
              <a:rPr b="1" lang="fr" sz="1200">
                <a:solidFill>
                  <a:schemeClr val="lt1"/>
                </a:solidFill>
              </a:rPr>
              <a:t>12 000 € HT</a:t>
            </a:r>
            <a:r>
              <a:rPr lang="fr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Pour les coûts mensuels de fonctionnement, l’estimation va d’environ </a:t>
            </a:r>
            <a:r>
              <a:rPr b="1" lang="fr" sz="1200">
                <a:solidFill>
                  <a:schemeClr val="lt1"/>
                </a:solidFill>
              </a:rPr>
              <a:t>37 € à 1 215 €</a:t>
            </a:r>
            <a:r>
              <a:rPr lang="fr" sz="1200">
                <a:solidFill>
                  <a:schemeClr val="lt1"/>
                </a:solidFill>
              </a:rPr>
              <a:t>, selon le nombre d’utilisateurs.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Ce sont des estimations qui devront être affinées avec les conditions réelles de production.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L’idée est de commencer avec les fonctionnalités essentielles et d’adapter les ressources à l’utilisation réelle.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9. Du POC au MVP : les choix clés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64" name="Google Shape;264;p36"/>
          <p:cNvSpPr/>
          <p:nvPr/>
        </p:nvSpPr>
        <p:spPr>
          <a:xfrm>
            <a:off x="377200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POC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RAG local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FAISS + Streamlit</a:t>
            </a:r>
            <a:endParaRPr sz="1200"/>
          </a:p>
        </p:txBody>
      </p:sp>
      <p:sp>
        <p:nvSpPr>
          <p:cNvPr id="265" name="Google Shape;265;p36"/>
          <p:cNvSpPr/>
          <p:nvPr/>
        </p:nvSpPr>
        <p:spPr>
          <a:xfrm>
            <a:off x="1831135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FFF5E1"/>
          </a:solidFill>
          <a:ln cap="flat" cmpd="sng" w="19050">
            <a:solidFill>
              <a:srgbClr val="F596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Architecture Cloud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 sz="1200"/>
          </a:p>
        </p:txBody>
      </p:sp>
      <p:sp>
        <p:nvSpPr>
          <p:cNvPr id="266" name="Google Shape;266;p36"/>
          <p:cNvSpPr/>
          <p:nvPr/>
        </p:nvSpPr>
        <p:spPr>
          <a:xfrm>
            <a:off x="3285070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Mémoire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questions de suivi</a:t>
            </a:r>
            <a:endParaRPr sz="1200"/>
          </a:p>
        </p:txBody>
      </p:sp>
      <p:sp>
        <p:nvSpPr>
          <p:cNvPr id="267" name="Google Shape;267;p36"/>
          <p:cNvSpPr/>
          <p:nvPr/>
        </p:nvSpPr>
        <p:spPr>
          <a:xfrm>
            <a:off x="4739004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Contexte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Qdrant + filtres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géographiques</a:t>
            </a:r>
            <a:endParaRPr sz="1200"/>
          </a:p>
        </p:txBody>
      </p:sp>
      <p:sp>
        <p:nvSpPr>
          <p:cNvPr id="268" name="Google Shape;268;p36"/>
          <p:cNvSpPr/>
          <p:nvPr/>
        </p:nvSpPr>
        <p:spPr>
          <a:xfrm>
            <a:off x="6192939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FCE8EB"/>
          </a:solidFill>
          <a:ln cap="flat" cmpd="sng" w="19050">
            <a:solidFill>
              <a:srgbClr val="DC4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smolagents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si information manquante</a:t>
            </a:r>
            <a:endParaRPr sz="1200"/>
          </a:p>
        </p:txBody>
      </p:sp>
      <p:sp>
        <p:nvSpPr>
          <p:cNvPr id="269" name="Google Shape;269;p36"/>
          <p:cNvSpPr/>
          <p:nvPr/>
        </p:nvSpPr>
        <p:spPr>
          <a:xfrm>
            <a:off x="7646874" y="1371600"/>
            <a:ext cx="1234500" cy="14403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Qualité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CloudWatch + LangSmith</a:t>
            </a:r>
            <a:b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suivi continu</a:t>
            </a:r>
            <a:endParaRPr sz="1200"/>
          </a:p>
        </p:txBody>
      </p:sp>
      <p:sp>
        <p:nvSpPr>
          <p:cNvPr id="270" name="Google Shape;270;p36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/>
          </a:p>
        </p:txBody>
      </p:sp>
      <p:sp>
        <p:nvSpPr>
          <p:cNvPr id="272" name="Google Shape;272;p36"/>
          <p:cNvSpPr txBox="1"/>
          <p:nvPr/>
        </p:nvSpPr>
        <p:spPr>
          <a:xfrm>
            <a:off x="445775" y="3161213"/>
            <a:ext cx="84447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Pour résumer, le POC était principalement local avec FAISS et Streamlit.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MVP apporte une architecture cloud plus évolutive.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Il ajoute une mémoire avec Redis, des filtres géographiques avec Qdrant, une recherche Web et un suivi continu de la qualité.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Les fonctionnalités plus avancées, comme le reranking ou la personnalisation, pourront être ajoutées plus tard.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/>
        </p:nvSpPr>
        <p:spPr>
          <a:xfrm>
            <a:off x="445782" y="240030"/>
            <a:ext cx="82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10. Compétences mobilisées &amp; portfolio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78" name="Google Shape;278;p37"/>
          <p:cNvSpPr/>
          <p:nvPr/>
        </p:nvSpPr>
        <p:spPr>
          <a:xfrm>
            <a:off x="480073" y="1062990"/>
            <a:ext cx="1886100" cy="1748700"/>
          </a:xfrm>
          <a:prstGeom prst="roundRect">
            <a:avLst>
              <a:gd fmla="val 16667" name="adj"/>
            </a:avLst>
          </a:prstGeom>
          <a:solidFill>
            <a:srgbClr val="F2E8FC"/>
          </a:solidFill>
          <a:ln cap="flat" cmpd="sng" w="19050">
            <a:solidFill>
              <a:srgbClr val="7D4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01 — Cadrage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Collecter les besoins, analyser le contexte</a:t>
            </a:r>
            <a:endParaRPr sz="1200"/>
          </a:p>
        </p:txBody>
      </p:sp>
      <p:sp>
        <p:nvSpPr>
          <p:cNvPr id="279" name="Google Shape;279;p37"/>
          <p:cNvSpPr/>
          <p:nvPr/>
        </p:nvSpPr>
        <p:spPr>
          <a:xfrm>
            <a:off x="2606109" y="1062990"/>
            <a:ext cx="1886100" cy="1748700"/>
          </a:xfrm>
          <a:prstGeom prst="roundRect">
            <a:avLst>
              <a:gd fmla="val 16667" name="adj"/>
            </a:avLst>
          </a:prstGeom>
          <a:solidFill>
            <a:srgbClr val="E1F0FF"/>
          </a:solidFill>
          <a:ln cap="flat" cmpd="sng" w="19050">
            <a:solidFill>
              <a:srgbClr val="2878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02 — Pilotage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Planifier, suivre délais, coûts et livrables</a:t>
            </a:r>
            <a:endParaRPr sz="1200"/>
          </a:p>
        </p:txBody>
      </p:sp>
      <p:sp>
        <p:nvSpPr>
          <p:cNvPr id="280" name="Google Shape;280;p37"/>
          <p:cNvSpPr/>
          <p:nvPr/>
        </p:nvSpPr>
        <p:spPr>
          <a:xfrm>
            <a:off x="4732146" y="1062990"/>
            <a:ext cx="1886100" cy="1748700"/>
          </a:xfrm>
          <a:prstGeom prst="roundRect">
            <a:avLst>
              <a:gd fmla="val 16667" name="adj"/>
            </a:avLst>
          </a:prstGeom>
          <a:solidFill>
            <a:srgbClr val="FCE8EB"/>
          </a:solidFill>
          <a:ln cap="flat" cmpd="sng" w="19050">
            <a:solidFill>
              <a:srgbClr val="DC4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03 — Décision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Appui stratégique à la prise de décision</a:t>
            </a:r>
            <a:endParaRPr sz="1200"/>
          </a:p>
        </p:txBody>
      </p:sp>
      <p:sp>
        <p:nvSpPr>
          <p:cNvPr id="281" name="Google Shape;281;p37"/>
          <p:cNvSpPr/>
          <p:nvPr/>
        </p:nvSpPr>
        <p:spPr>
          <a:xfrm>
            <a:off x="6858183" y="1062990"/>
            <a:ext cx="1886100" cy="1748700"/>
          </a:xfrm>
          <a:prstGeom prst="roundRect">
            <a:avLst>
              <a:gd fmla="val 16667" name="adj"/>
            </a:avLst>
          </a:prstGeom>
          <a:solidFill>
            <a:srgbClr val="E4F6EB"/>
          </a:solidFill>
          <a:ln cap="flat" cmpd="sng" w="19050">
            <a:solidFill>
              <a:srgbClr val="2D9B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109725" spcFirstLastPara="1" rIns="823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92D4B"/>
                </a:solidFill>
                <a:latin typeface="Arial"/>
                <a:ea typeface="Arial"/>
                <a:cs typeface="Arial"/>
                <a:sym typeface="Arial"/>
              </a:rPr>
              <a:t>04 — Veille</a:t>
            </a:r>
            <a:endParaRPr sz="1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32328"/>
                </a:solidFill>
                <a:latin typeface="Arial"/>
                <a:ea typeface="Arial"/>
                <a:cs typeface="Arial"/>
                <a:sym typeface="Arial"/>
              </a:rPr>
              <a:t>Identifier et diffuser de nouvelles solutions</a:t>
            </a:r>
            <a:endParaRPr sz="1200"/>
          </a:p>
        </p:txBody>
      </p:sp>
      <p:sp>
        <p:nvSpPr>
          <p:cNvPr id="282" name="Google Shape;282;p37"/>
          <p:cNvSpPr/>
          <p:nvPr/>
        </p:nvSpPr>
        <p:spPr>
          <a:xfrm>
            <a:off x="445782" y="4882896"/>
            <a:ext cx="8229900" cy="138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8161238" y="4910328"/>
            <a:ext cx="480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/>
          </a:p>
        </p:txBody>
      </p:sp>
      <p:sp>
        <p:nvSpPr>
          <p:cNvPr id="284" name="Google Shape;284;p37"/>
          <p:cNvSpPr txBox="1"/>
          <p:nvPr/>
        </p:nvSpPr>
        <p:spPr>
          <a:xfrm>
            <a:off x="328500" y="3242275"/>
            <a:ext cx="88155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Ce projet m’a permis de travailler plusieurs compétences :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le cadrage du besoin, la planification, l’estimation des coûts, la veille technologique et la présentation de choix techniques.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Il m’a aussi permis d’avoir une vision plus globale de la conception d’une solution Data et IA.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J’ai également un portfolio GitHub qui regroupe mes différents projets, les outils que j’ai utilisés, les résultats obtenus et les compétences développées.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