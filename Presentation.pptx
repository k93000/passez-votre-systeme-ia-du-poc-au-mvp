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92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92D4B"/>
                </a:solidFill>
              </a:rPr>
              <a:t>Passage du POC au MVP</a:t>
            </a:r>
          </a:p>
          <a:p>
            <a:pPr algn="ctr"/>
            <a:r>
              <a:rPr sz="2100">
                <a:solidFill>
                  <a:srgbClr val="5F6973"/>
                </a:solidFill>
              </a:rPr>
              <a:t>Chatbot intelligent &amp; recommandations d’événements — Puls-Events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3154680"/>
            <a:ext cx="6675120" cy="1143000"/>
          </a:xfrm>
          <a:prstGeom prst="roundRect">
            <a:avLst/>
          </a:prstGeom>
          <a:solidFill>
            <a:srgbClr val="E1F0FF"/>
          </a:solidFill>
          <a:ln w="19050">
            <a:solidFill>
              <a:srgbClr val="287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800" b="1">
                <a:solidFill>
                  <a:srgbClr val="192D4B"/>
                </a:solidFill>
                <a:latin typeface="Aptos"/>
              </a:rPr>
              <a:t>Objectif</a:t>
            </a:r>
          </a:p>
          <a:p>
            <a:pPr algn="ctr"/>
            <a:r>
              <a:rPr sz="1500">
                <a:solidFill>
                  <a:srgbClr val="232328"/>
                </a:solidFill>
                <a:latin typeface="Aptos"/>
              </a:rPr>
              <a:t>Proposer une architecture scalable, un backlog, un planning et une estimation des coûts pour transformer le POC en MVP.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4983480"/>
            <a:ext cx="4754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5F6973"/>
                </a:solidFill>
              </a:rPr>
              <a:t>Soutenance — 11 à 13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92D4B"/>
                </a:solidFill>
                <a:latin typeface="Aptos Display"/>
              </a:rPr>
              <a:t>1. Point de départ : le POC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2743200" cy="1828800"/>
          </a:xfrm>
          <a:prstGeom prst="roundRect">
            <a:avLst/>
          </a:prstGeom>
          <a:solidFill>
            <a:srgbClr val="E1F0FF"/>
          </a:solidFill>
          <a:ln w="19050">
            <a:solidFill>
              <a:srgbClr val="287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2800" b="1">
                <a:solidFill>
                  <a:srgbClr val="192D4B"/>
                </a:solidFill>
                <a:latin typeface="Aptos"/>
              </a:rPr>
              <a:t>3 880</a:t>
            </a:r>
          </a:p>
          <a:p>
            <a:pPr algn="ctr"/>
            <a:r>
              <a:rPr sz="1500">
                <a:solidFill>
                  <a:srgbClr val="232328"/>
                </a:solidFill>
                <a:latin typeface="Aptos"/>
              </a:rPr>
              <a:t>événements OpenAgenda exploités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49039" y="1417320"/>
            <a:ext cx="2743200" cy="1828800"/>
          </a:xfrm>
          <a:prstGeom prst="roundRect">
            <a:avLst/>
          </a:prstGeom>
          <a:solidFill>
            <a:srgbClr val="F2E8FC"/>
          </a:solidFill>
          <a:ln w="19050">
            <a:solidFill>
              <a:srgbClr val="7D4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2400" b="1">
                <a:solidFill>
                  <a:srgbClr val="192D4B"/>
                </a:solidFill>
                <a:latin typeface="Aptos"/>
              </a:rPr>
              <a:t>RAG</a:t>
            </a:r>
          </a:p>
          <a:p>
            <a:pPr algn="ctr"/>
            <a:r>
              <a:rPr sz="1400">
                <a:solidFill>
                  <a:srgbClr val="232328"/>
                </a:solidFill>
                <a:latin typeface="Aptos"/>
              </a:rPr>
              <a:t>Recherche sémantique + génération Mistral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1417320"/>
            <a:ext cx="2743200" cy="1828800"/>
          </a:xfrm>
          <a:prstGeom prst="roundRect">
            <a:avLst/>
          </a:prstGeom>
          <a:solidFill>
            <a:srgbClr val="E4F6EB"/>
          </a:solidFill>
          <a:ln w="19050">
            <a:solidFill>
              <a:srgbClr val="2D9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2400" b="1">
                <a:solidFill>
                  <a:srgbClr val="192D4B"/>
                </a:solidFill>
                <a:latin typeface="Aptos"/>
              </a:rPr>
              <a:t>FAISS</a:t>
            </a:r>
          </a:p>
          <a:p>
            <a:pPr algn="ctr"/>
            <a:r>
              <a:rPr sz="1400">
                <a:solidFill>
                  <a:srgbClr val="232328"/>
                </a:solidFill>
                <a:latin typeface="Aptos"/>
              </a:rPr>
              <a:t>Base vectorielle locale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784080" y="1417320"/>
            <a:ext cx="1645920" cy="1828800"/>
          </a:xfrm>
          <a:prstGeom prst="roundRect">
            <a:avLst/>
          </a:prstGeom>
          <a:solidFill>
            <a:srgbClr val="FFF5E1"/>
          </a:solidFill>
          <a:ln w="19050">
            <a:solidFill>
              <a:srgbClr val="F59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800" b="1">
                <a:solidFill>
                  <a:srgbClr val="192D4B"/>
                </a:solidFill>
                <a:latin typeface="Aptos"/>
              </a:rPr>
              <a:t>Streamlit</a:t>
            </a:r>
          </a:p>
          <a:p>
            <a:pPr algn="ctr"/>
            <a:r>
              <a:rPr sz="1300">
                <a:solidFill>
                  <a:srgbClr val="232328"/>
                </a:solidFill>
                <a:latin typeface="Aptos"/>
              </a:rPr>
              <a:t>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241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328"/>
                </a:solidFill>
                <a:latin typeface="Aptos"/>
              </a:defRPr>
            </a:pPr>
            <a:r>
              <a:t>• Le POC fonctionne, mais il reste limité à une base locale.</a:t>
            </a:r>
          </a:p>
          <a:p>
            <a:pPr>
              <a:spcAft>
                <a:spcPts val="700"/>
              </a:spcAft>
              <a:defRPr sz="1700">
                <a:solidFill>
                  <a:srgbClr val="232328"/>
                </a:solidFill>
                <a:latin typeface="Aptos"/>
              </a:defRPr>
            </a:pPr>
            <a:r>
              <a:t>• Le contexte conversationnel n’est pas réellement transmis au moteur RAG.</a:t>
            </a:r>
          </a:p>
          <a:p>
            <a:pPr>
              <a:spcAft>
                <a:spcPts val="700"/>
              </a:spcAft>
              <a:defRPr sz="1700">
                <a:solidFill>
                  <a:srgbClr val="232328"/>
                </a:solidFill>
                <a:latin typeface="Aptos"/>
              </a:defRPr>
            </a:pPr>
            <a:r>
              <a:t>• Les résultats RAGAS montrent surtout une marge d’amélioration du retrieval.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0" y="6547104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973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92D4B"/>
                </a:solidFill>
                <a:latin typeface="Aptos Display"/>
              </a:rPr>
              <a:t>2. Résultats et limites du POC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F6973"/>
                </a:solidFill>
                <a:latin typeface="Aptos"/>
              </a:rPr>
              <a:t>Les résultats orientent directement les choix du MVP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417320"/>
            <a:ext cx="3017520" cy="1645920"/>
          </a:xfrm>
          <a:prstGeom prst="roundRect">
            <a:avLst/>
          </a:prstGeom>
          <a:solidFill>
            <a:srgbClr val="F2E8FC"/>
          </a:solidFill>
          <a:ln w="19050">
            <a:solidFill>
              <a:srgbClr val="7D4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800" b="1">
                <a:solidFill>
                  <a:srgbClr val="192D4B"/>
                </a:solidFill>
                <a:latin typeface="Aptos"/>
              </a:rPr>
              <a:t>Faithfulness</a:t>
            </a:r>
          </a:p>
          <a:p>
            <a:pPr algn="ctr"/>
            <a:r>
              <a:rPr sz="2800">
                <a:solidFill>
                  <a:srgbClr val="232328"/>
                </a:solidFill>
                <a:latin typeface="Aptos"/>
              </a:rPr>
              <a:t>0,575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1417320"/>
            <a:ext cx="3017520" cy="1645920"/>
          </a:xfrm>
          <a:prstGeom prst="roundRect">
            <a:avLst/>
          </a:prstGeom>
          <a:solidFill>
            <a:srgbClr val="E1F0FF"/>
          </a:solidFill>
          <a:ln w="19050">
            <a:solidFill>
              <a:srgbClr val="287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800" b="1">
                <a:solidFill>
                  <a:srgbClr val="192D4B"/>
                </a:solidFill>
                <a:latin typeface="Aptos"/>
              </a:rPr>
              <a:t>Context Precision</a:t>
            </a:r>
          </a:p>
          <a:p>
            <a:pPr algn="ctr"/>
            <a:r>
              <a:rPr sz="2800">
                <a:solidFill>
                  <a:srgbClr val="232328"/>
                </a:solidFill>
                <a:latin typeface="Aptos"/>
              </a:rPr>
              <a:t>0,422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0" y="1417320"/>
            <a:ext cx="3017520" cy="1645920"/>
          </a:xfrm>
          <a:prstGeom prst="roundRect">
            <a:avLst/>
          </a:prstGeom>
          <a:solidFill>
            <a:srgbClr val="FCE8EB"/>
          </a:solidFill>
          <a:ln w="19050">
            <a:solidFill>
              <a:srgbClr val="DC4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800" b="1">
                <a:solidFill>
                  <a:srgbClr val="192D4B"/>
                </a:solidFill>
                <a:latin typeface="Aptos"/>
              </a:rPr>
              <a:t>Context Recall</a:t>
            </a:r>
          </a:p>
          <a:p>
            <a:pPr algn="ctr"/>
            <a:r>
              <a:rPr sz="2800">
                <a:solidFill>
                  <a:srgbClr val="232328"/>
                </a:solidFill>
                <a:latin typeface="Aptos"/>
              </a:rPr>
              <a:t>0,233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57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328"/>
                </a:solidFill>
                <a:latin typeface="Aptos"/>
              </a:defRPr>
            </a:pPr>
            <a:r>
              <a:t>• Le Context Recall à 0,233 montre que certaines informations nécessaires ne sont pas toujours récupérées.</a:t>
            </a:r>
          </a:p>
          <a:p>
            <a:pPr>
              <a:spcAft>
                <a:spcPts val="700"/>
              </a:spcAft>
              <a:defRPr sz="1700">
                <a:solidFill>
                  <a:srgbClr val="232328"/>
                </a:solidFill>
                <a:latin typeface="Aptos"/>
              </a:defRPr>
            </a:pPr>
            <a:r>
              <a:t>• Le MVP commence donc par renforcer le filtrage géographique et les métadonnées.</a:t>
            </a:r>
          </a:p>
          <a:p>
            <a:pPr>
              <a:spcAft>
                <a:spcPts val="700"/>
              </a:spcAft>
              <a:defRPr sz="1700">
                <a:solidFill>
                  <a:srgbClr val="232328"/>
                </a:solidFill>
                <a:latin typeface="Aptos"/>
              </a:defRPr>
            </a:pPr>
            <a:r>
              <a:t>• Recherche hybride et reranking restent des évolutions Nice-to-Have.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0" y="6547104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973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92D4B"/>
                </a:solidFill>
                <a:latin typeface="Aptos Display"/>
              </a:rPr>
              <a:t>3. Besoins prioritaires du MVP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17320"/>
            <a:ext cx="2514600" cy="2331720"/>
          </a:xfrm>
          <a:prstGeom prst="roundRect">
            <a:avLst/>
          </a:prstGeom>
          <a:solidFill>
            <a:srgbClr val="F2E8FC"/>
          </a:solidFill>
          <a:ln w="19050">
            <a:solidFill>
              <a:srgbClr val="7D4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700" b="1">
                <a:solidFill>
                  <a:srgbClr val="192D4B"/>
                </a:solidFill>
                <a:latin typeface="Aptos"/>
              </a:rPr>
              <a:t>01 — Mémoire</a:t>
            </a:r>
          </a:p>
          <a:p>
            <a:pPr algn="ctr"/>
            <a:r>
              <a:rPr sz="1400">
                <a:solidFill>
                  <a:srgbClr val="232328"/>
                </a:solidFill>
                <a:latin typeface="Aptos"/>
              </a:rPr>
              <a:t>Comprendre les questions de suivi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417320"/>
            <a:ext cx="2514600" cy="2331720"/>
          </a:xfrm>
          <a:prstGeom prst="roundRect">
            <a:avLst/>
          </a:prstGeom>
          <a:solidFill>
            <a:srgbClr val="E1F0FF"/>
          </a:solidFill>
          <a:ln w="19050">
            <a:solidFill>
              <a:srgbClr val="287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700" b="1">
                <a:solidFill>
                  <a:srgbClr val="192D4B"/>
                </a:solidFill>
                <a:latin typeface="Aptos"/>
              </a:rPr>
              <a:t>02 — Géographie</a:t>
            </a:r>
          </a:p>
          <a:p>
            <a:pPr algn="ctr"/>
            <a:r>
              <a:rPr sz="1400">
                <a:solidFill>
                  <a:srgbClr val="232328"/>
                </a:solidFill>
                <a:latin typeface="Aptos"/>
              </a:rPr>
              <a:t>Adapter la recherche à une zone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17320"/>
            <a:ext cx="2514600" cy="2331720"/>
          </a:xfrm>
          <a:prstGeom prst="roundRect">
            <a:avLst/>
          </a:prstGeom>
          <a:solidFill>
            <a:srgbClr val="FCE8EB"/>
          </a:solidFill>
          <a:ln w="19050">
            <a:solidFill>
              <a:srgbClr val="DC4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700" b="1">
                <a:solidFill>
                  <a:srgbClr val="192D4B"/>
                </a:solidFill>
                <a:latin typeface="Aptos"/>
              </a:rPr>
              <a:t>03 — Recherche Web</a:t>
            </a:r>
          </a:p>
          <a:p>
            <a:pPr algn="ctr"/>
            <a:r>
              <a:rPr sz="1400">
                <a:solidFill>
                  <a:srgbClr val="232328"/>
                </a:solidFill>
                <a:latin typeface="Aptos"/>
              </a:rPr>
              <a:t>Compléter les informations récentes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1417320"/>
            <a:ext cx="2514600" cy="2331720"/>
          </a:xfrm>
          <a:prstGeom prst="roundRect">
            <a:avLst/>
          </a:prstGeom>
          <a:solidFill>
            <a:srgbClr val="E4F6EB"/>
          </a:solidFill>
          <a:ln w="19050">
            <a:solidFill>
              <a:srgbClr val="2D9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700" b="1">
                <a:solidFill>
                  <a:srgbClr val="192D4B"/>
                </a:solidFill>
                <a:latin typeface="Aptos"/>
              </a:rPr>
              <a:t>04 — Monitoring</a:t>
            </a:r>
          </a:p>
          <a:p>
            <a:pPr algn="ctr"/>
            <a:r>
              <a:rPr sz="1400">
                <a:solidFill>
                  <a:srgbClr val="232328"/>
                </a:solidFill>
                <a:latin typeface="Aptos"/>
              </a:rPr>
              <a:t>Suivre performance, erreurs et qualité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101498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232328"/>
                </a:solidFill>
                <a:latin typeface="Aptos"/>
              </a:defRPr>
            </a:pPr>
            <a:r>
              <a:t>• Cas d’usage : rechercher des événements près de chez soi.</a:t>
            </a:r>
          </a:p>
          <a:p>
            <a:pPr>
              <a:spcAft>
                <a:spcPts val="700"/>
              </a:spcAft>
              <a:defRPr sz="1600">
                <a:solidFill>
                  <a:srgbClr val="232328"/>
                </a:solidFill>
                <a:latin typeface="Aptos"/>
              </a:defRPr>
            </a:pPr>
            <a:r>
              <a:t>• Cas d’usage : enchaîner plusieurs questions dans une même conversation.</a:t>
            </a:r>
          </a:p>
          <a:p>
            <a:pPr>
              <a:spcAft>
                <a:spcPts val="700"/>
              </a:spcAft>
              <a:defRPr sz="1600">
                <a:solidFill>
                  <a:srgbClr val="232328"/>
                </a:solidFill>
                <a:latin typeface="Aptos"/>
              </a:defRPr>
            </a:pPr>
            <a:r>
              <a:t>• Cas d’usage : vérifier une information récente si la base interne est incomplète.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0" y="6547104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973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92D4B"/>
                </a:solidFill>
                <a:latin typeface="Aptos Display"/>
              </a:rPr>
              <a:t>4. Architecture cible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F6973"/>
                </a:solidFill>
                <a:latin typeface="Aptos"/>
              </a:rPr>
              <a:t>Une architecture simple à expliquer : question → traitement → recherche → réponse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1828800" cy="1005840"/>
          </a:xfrm>
          <a:prstGeom prst="roundRect">
            <a:avLst/>
          </a:prstGeom>
          <a:solidFill>
            <a:srgbClr val="E1F0FF"/>
          </a:solidFill>
          <a:ln w="19050">
            <a:solidFill>
              <a:srgbClr val="287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500" b="1">
                <a:solidFill>
                  <a:srgbClr val="192D4B"/>
                </a:solidFill>
                <a:latin typeface="Aptos"/>
              </a:rPr>
              <a:t>Utilisateur</a:t>
            </a:r>
          </a:p>
          <a:p>
            <a:pPr algn="ctr"/>
            <a:r>
              <a:rPr sz="1200">
                <a:solidFill>
                  <a:srgbClr val="232328"/>
                </a:solidFill>
                <a:latin typeface="Aptos"/>
              </a:rPr>
              <a:t>Web / Mobile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40" y="1325880"/>
            <a:ext cx="1828800" cy="1005840"/>
          </a:xfrm>
          <a:prstGeom prst="roundRect">
            <a:avLst/>
          </a:prstGeom>
          <a:solidFill>
            <a:srgbClr val="FFF5E1"/>
          </a:solidFill>
          <a:ln w="19050">
            <a:solidFill>
              <a:srgbClr val="F59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500" b="1">
                <a:solidFill>
                  <a:srgbClr val="192D4B"/>
                </a:solidFill>
                <a:latin typeface="Aptos"/>
              </a:rPr>
              <a:t>API Gateway</a:t>
            </a:r>
          </a:p>
          <a:p>
            <a:pPr algn="ctr"/>
            <a:r>
              <a:rPr sz="1200">
                <a:solidFill>
                  <a:srgbClr val="232328"/>
                </a:solidFill>
                <a:latin typeface="Aptos"/>
              </a:rPr>
              <a:t>Point d’entrée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1325880"/>
            <a:ext cx="2011680" cy="1005840"/>
          </a:xfrm>
          <a:prstGeom prst="roundRect">
            <a:avLst/>
          </a:prstGeom>
          <a:solidFill>
            <a:srgbClr val="E1F0FF"/>
          </a:solidFill>
          <a:ln w="19050">
            <a:solidFill>
              <a:srgbClr val="287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500" b="1">
                <a:solidFill>
                  <a:srgbClr val="192D4B"/>
                </a:solidFill>
                <a:latin typeface="Aptos"/>
              </a:rPr>
              <a:t>FastAPI / Fargate</a:t>
            </a:r>
          </a:p>
          <a:p>
            <a:pPr algn="ctr"/>
            <a:r>
              <a:rPr sz="1200">
                <a:solidFill>
                  <a:srgbClr val="232328"/>
                </a:solidFill>
                <a:latin typeface="Aptos"/>
              </a:rPr>
              <a:t>Orchestration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325880"/>
            <a:ext cx="2011680" cy="1005840"/>
          </a:xfrm>
          <a:prstGeom prst="roundRect">
            <a:avLst/>
          </a:prstGeom>
          <a:solidFill>
            <a:srgbClr val="E4F6EB"/>
          </a:solidFill>
          <a:ln w="19050">
            <a:solidFill>
              <a:srgbClr val="2D9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500" b="1">
                <a:solidFill>
                  <a:srgbClr val="192D4B"/>
                </a:solidFill>
                <a:latin typeface="Aptos"/>
              </a:rPr>
              <a:t>Qdrant Cloud</a:t>
            </a:r>
          </a:p>
          <a:p>
            <a:pPr algn="ctr"/>
            <a:r>
              <a:rPr sz="1200">
                <a:solidFill>
                  <a:srgbClr val="232328"/>
                </a:solidFill>
                <a:latin typeface="Aptos"/>
              </a:rPr>
              <a:t>Recherche événements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1325880"/>
            <a:ext cx="1737360" cy="1005840"/>
          </a:xfrm>
          <a:prstGeom prst="roundRect">
            <a:avLst/>
          </a:prstGeom>
          <a:solidFill>
            <a:srgbClr val="F2E8FC"/>
          </a:solidFill>
          <a:ln w="19050">
            <a:solidFill>
              <a:srgbClr val="7D4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500" b="1">
                <a:solidFill>
                  <a:srgbClr val="192D4B"/>
                </a:solidFill>
                <a:latin typeface="Aptos"/>
              </a:rPr>
              <a:t>Mistral AI</a:t>
            </a:r>
          </a:p>
          <a:p>
            <a:pPr algn="ctr"/>
            <a:r>
              <a:rPr sz="1200">
                <a:solidFill>
                  <a:srgbClr val="232328"/>
                </a:solidFill>
                <a:latin typeface="Aptos"/>
              </a:rPr>
              <a:t>Réponse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68880" y="1828800"/>
            <a:ext cx="365760" cy="0"/>
          </a:xfrm>
          <a:prstGeom prst="line">
            <a:avLst/>
          </a:prstGeom>
          <a:ln w="25400">
            <a:solidFill>
              <a:srgbClr val="2878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663440" y="1828800"/>
            <a:ext cx="365760" cy="0"/>
          </a:xfrm>
          <a:prstGeom prst="line">
            <a:avLst/>
          </a:prstGeom>
          <a:ln w="25400">
            <a:solidFill>
              <a:srgbClr val="2878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040880" y="1828800"/>
            <a:ext cx="365760" cy="0"/>
          </a:xfrm>
          <a:prstGeom prst="line">
            <a:avLst/>
          </a:prstGeom>
          <a:ln w="25400">
            <a:solidFill>
              <a:srgbClr val="2878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418320" y="1828800"/>
            <a:ext cx="365760" cy="0"/>
          </a:xfrm>
          <a:prstGeom prst="line">
            <a:avLst/>
          </a:prstGeom>
          <a:ln w="25400">
            <a:solidFill>
              <a:srgbClr val="2878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828800" y="3063240"/>
            <a:ext cx="2286000" cy="1143000"/>
          </a:xfrm>
          <a:prstGeom prst="roundRect">
            <a:avLst/>
          </a:prstGeom>
          <a:solidFill>
            <a:srgbClr val="F2E8FC"/>
          </a:solidFill>
          <a:ln w="19050">
            <a:solidFill>
              <a:srgbClr val="7D4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500" b="1">
                <a:solidFill>
                  <a:srgbClr val="192D4B"/>
                </a:solidFill>
                <a:latin typeface="Aptos"/>
              </a:rPr>
              <a:t>Redis</a:t>
            </a:r>
          </a:p>
          <a:p>
            <a:pPr algn="ctr"/>
            <a:r>
              <a:rPr sz="1200">
                <a:solidFill>
                  <a:srgbClr val="232328"/>
                </a:solidFill>
                <a:latin typeface="Aptos"/>
              </a:rPr>
              <a:t>Mémoire conversationnelle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3063240"/>
            <a:ext cx="2286000" cy="1143000"/>
          </a:xfrm>
          <a:prstGeom prst="roundRect">
            <a:avLst/>
          </a:prstGeom>
          <a:solidFill>
            <a:srgbClr val="FCE8EB"/>
          </a:solidFill>
          <a:ln w="19050">
            <a:solidFill>
              <a:srgbClr val="DC4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500" b="1">
                <a:solidFill>
                  <a:srgbClr val="192D4B"/>
                </a:solidFill>
                <a:latin typeface="Aptos"/>
              </a:rPr>
              <a:t>smolagents</a:t>
            </a:r>
          </a:p>
          <a:p>
            <a:pPr algn="ctr"/>
            <a:r>
              <a:rPr sz="1200">
                <a:solidFill>
                  <a:srgbClr val="232328"/>
                </a:solidFill>
                <a:latin typeface="Aptos"/>
              </a:rPr>
              <a:t>Recherche Web si nécessaire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3063240"/>
            <a:ext cx="2286000" cy="1143000"/>
          </a:xfrm>
          <a:prstGeom prst="roundRect">
            <a:avLst/>
          </a:prstGeom>
          <a:solidFill>
            <a:srgbClr val="F2F4F7"/>
          </a:solidFill>
          <a:ln w="19050">
            <a:solidFill>
              <a:srgbClr val="5F69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500" b="1">
                <a:solidFill>
                  <a:srgbClr val="192D4B"/>
                </a:solidFill>
                <a:latin typeface="Aptos"/>
              </a:rPr>
              <a:t>Monitoring</a:t>
            </a:r>
          </a:p>
          <a:p>
            <a:pPr algn="ctr"/>
            <a:r>
              <a:rPr sz="1200">
                <a:solidFill>
                  <a:srgbClr val="232328"/>
                </a:solidFill>
                <a:latin typeface="Aptos"/>
              </a:rPr>
              <a:t>CloudWatch + LangSmith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971800" y="2331720"/>
            <a:ext cx="3063240" cy="731520"/>
          </a:xfrm>
          <a:prstGeom prst="line">
            <a:avLst/>
          </a:prstGeom>
          <a:ln w="19050">
            <a:solidFill>
              <a:srgbClr val="5F69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989320" y="2331720"/>
            <a:ext cx="45720" cy="731520"/>
          </a:xfrm>
          <a:prstGeom prst="line">
            <a:avLst/>
          </a:prstGeom>
          <a:ln w="19050">
            <a:solidFill>
              <a:srgbClr val="5F69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35040" y="2331720"/>
            <a:ext cx="2971800" cy="731520"/>
          </a:xfrm>
          <a:prstGeom prst="line">
            <a:avLst/>
          </a:prstGeom>
          <a:ln w="19050">
            <a:solidFill>
              <a:srgbClr val="5F69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892040"/>
            <a:ext cx="2560320" cy="914400"/>
          </a:xfrm>
          <a:prstGeom prst="roundRect">
            <a:avLst/>
          </a:prstGeom>
          <a:solidFill>
            <a:srgbClr val="FFF5E1"/>
          </a:solidFill>
          <a:ln w="19050">
            <a:solidFill>
              <a:srgbClr val="F59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400" b="1">
                <a:solidFill>
                  <a:srgbClr val="192D4B"/>
                </a:solidFill>
                <a:latin typeface="Aptos"/>
              </a:rPr>
              <a:t>OpenAgenda</a:t>
            </a:r>
          </a:p>
          <a:p>
            <a:pPr algn="ctr"/>
            <a:r>
              <a:rPr sz="1100">
                <a:solidFill>
                  <a:srgbClr val="232328"/>
                </a:solidFill>
                <a:latin typeface="Aptos"/>
              </a:rPr>
              <a:t>Alimentation / mise à jour des événements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3383280" y="2331720"/>
            <a:ext cx="3931920" cy="3017520"/>
          </a:xfrm>
          <a:prstGeom prst="line">
            <a:avLst/>
          </a:prstGeom>
          <a:ln w="19050">
            <a:solidFill>
              <a:srgbClr val="F596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0" y="6547104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973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92D4B"/>
                </a:solidFill>
                <a:latin typeface="Aptos Display"/>
              </a:rPr>
              <a:t>5. Pourquoi AWS 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325880"/>
            <a:ext cx="3108960" cy="2011680"/>
          </a:xfrm>
          <a:prstGeom prst="roundRect">
            <a:avLst/>
          </a:prstGeom>
          <a:solidFill>
            <a:srgbClr val="FFF5E1"/>
          </a:solidFill>
          <a:ln w="19050">
            <a:solidFill>
              <a:srgbClr val="F59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2200" b="1">
                <a:solidFill>
                  <a:srgbClr val="192D4B"/>
                </a:solidFill>
                <a:latin typeface="Aptos"/>
              </a:rPr>
              <a:t>AWS</a:t>
            </a:r>
          </a:p>
          <a:p>
            <a:pPr algn="ctr"/>
            <a:r>
              <a:rPr sz="1500">
                <a:solidFill>
                  <a:srgbClr val="232328"/>
                </a:solidFill>
                <a:latin typeface="Aptos"/>
              </a:rPr>
              <a:t>Écosystème mature pour les conteneurs, le monitoring et les services managés.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26280" y="1325880"/>
            <a:ext cx="3108960" cy="2011680"/>
          </a:xfrm>
          <a:prstGeom prst="roundRect">
            <a:avLst/>
          </a:prstGeom>
          <a:solidFill>
            <a:srgbClr val="E1F0FF"/>
          </a:solidFill>
          <a:ln w="19050">
            <a:solidFill>
              <a:srgbClr val="287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2000" b="1">
                <a:solidFill>
                  <a:srgbClr val="192D4B"/>
                </a:solidFill>
                <a:latin typeface="Aptos"/>
              </a:rPr>
              <a:t>ECS Fargate</a:t>
            </a:r>
          </a:p>
          <a:p>
            <a:pPr algn="ctr"/>
            <a:r>
              <a:rPr sz="1500">
                <a:solidFill>
                  <a:srgbClr val="232328"/>
                </a:solidFill>
                <a:latin typeface="Aptos"/>
              </a:rPr>
              <a:t>Héberger FastAPI en conteneur sans gérer directement les serveurs.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325880"/>
            <a:ext cx="3108960" cy="2011680"/>
          </a:xfrm>
          <a:prstGeom prst="roundRect">
            <a:avLst/>
          </a:prstGeom>
          <a:solidFill>
            <a:srgbClr val="F2E8FC"/>
          </a:solidFill>
          <a:ln w="19050">
            <a:solidFill>
              <a:srgbClr val="7D4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2000" b="1">
                <a:solidFill>
                  <a:srgbClr val="192D4B"/>
                </a:solidFill>
                <a:latin typeface="Aptos"/>
              </a:rPr>
              <a:t>ElastiCache Redis</a:t>
            </a:r>
          </a:p>
          <a:p>
            <a:pPr algn="ctr"/>
            <a:r>
              <a:rPr sz="1500">
                <a:solidFill>
                  <a:srgbClr val="232328"/>
                </a:solidFill>
                <a:latin typeface="Aptos"/>
              </a:rPr>
              <a:t>Stocker la mémoire conversationnelle avec une faible latence.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328"/>
                </a:solidFill>
                <a:latin typeface="Aptos"/>
              </a:defRPr>
            </a:pPr>
            <a:r>
              <a:t>• Qdrant Cloud est conservé comme service managé externe, car il répond bien au besoin de recherche vectorielle et de filtres géographiques.</a:t>
            </a:r>
          </a:p>
          <a:p>
            <a:pPr>
              <a:spcAft>
                <a:spcPts val="700"/>
              </a:spcAft>
              <a:defRPr sz="1700">
                <a:solidFill>
                  <a:srgbClr val="232328"/>
                </a:solidFill>
                <a:latin typeface="Aptos"/>
              </a:defRPr>
            </a:pPr>
            <a:r>
              <a:t>• Le choix vise surtout la simplicité d’intégration et la capacité à faire évoluer le MVP.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6547104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973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92D4B"/>
                </a:solidFill>
                <a:latin typeface="Aptos Display"/>
              </a:rPr>
              <a:t>6. Macro backlog du MVP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F6973"/>
                </a:solidFill>
                <a:latin typeface="Aptos"/>
              </a:rPr>
              <a:t>Priorisation MoSCoW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34440"/>
            <a:ext cx="5212080" cy="4343400"/>
          </a:xfrm>
          <a:prstGeom prst="roundRect">
            <a:avLst/>
          </a:prstGeom>
          <a:solidFill>
            <a:srgbClr val="E1F0FF"/>
          </a:solidFill>
          <a:ln w="19050">
            <a:solidFill>
              <a:srgbClr val="287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2000" b="1">
                <a:solidFill>
                  <a:srgbClr val="192D4B"/>
                </a:solidFill>
                <a:latin typeface="Aptos"/>
              </a:rPr>
              <a:t>MUST-HAVE — 28 jours</a:t>
            </a:r>
          </a:p>
          <a:p>
            <a:pPr algn="ctr"/>
            <a:r>
              <a:rPr sz="1400">
                <a:solidFill>
                  <a:srgbClr val="232328"/>
                </a:solidFill>
                <a:latin typeface="Aptos"/>
              </a:rPr>
              <a:t>F01 Socle RAG — 2 j
F02 Mémoire — 4 j
F03 Localisation — 4 j
F04 Recherche Web — 5 j
F05 Sources — 2 j
F06 Monitoring — 3 j
F07 Infrastructure scalable — 5 j
F08 Tests / validation — 3 j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234440"/>
            <a:ext cx="5212080" cy="4343400"/>
          </a:xfrm>
          <a:prstGeom prst="roundRect">
            <a:avLst/>
          </a:prstGeom>
          <a:solidFill>
            <a:srgbClr val="F2F4F7"/>
          </a:solidFill>
          <a:ln w="19050">
            <a:solidFill>
              <a:srgbClr val="5F69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2000" b="1">
                <a:solidFill>
                  <a:srgbClr val="192D4B"/>
                </a:solidFill>
                <a:latin typeface="Aptos"/>
              </a:rPr>
              <a:t>NICE-TO-HAVE — 15 jours</a:t>
            </a:r>
          </a:p>
          <a:p>
            <a:pPr algn="ctr"/>
            <a:r>
              <a:rPr sz="1400">
                <a:solidFill>
                  <a:srgbClr val="232328"/>
                </a:solidFill>
                <a:latin typeface="Aptos"/>
              </a:rPr>
              <a:t>F09 Recherche hybride — 4 j
F10 Reranking — 3 j
F11 Filtres avancés — 3 j
F12 Personnalisation — 5 j
Total projet complet : 43 jours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0" y="6547104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973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92D4B"/>
                </a:solidFill>
                <a:latin typeface="Aptos Display"/>
              </a:rPr>
              <a:t>7. Planning de la mission de cadrage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96112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5F6973"/>
                </a:solidFill>
                <a:latin typeface="Aptos"/>
              </a:rPr>
              <a:t>10 semaines — l’effort du backlog correspond au développement théorique du MVP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920240" cy="1325880"/>
          </a:xfrm>
          <a:prstGeom prst="roundRect">
            <a:avLst/>
          </a:prstGeom>
          <a:solidFill>
            <a:srgbClr val="E1F0FF"/>
          </a:solidFill>
          <a:ln w="19050">
            <a:solidFill>
              <a:srgbClr val="287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600" b="1">
                <a:solidFill>
                  <a:srgbClr val="192D4B"/>
                </a:solidFill>
                <a:latin typeface="Aptos"/>
              </a:rPr>
              <a:t>S1</a:t>
            </a:r>
          </a:p>
          <a:p>
            <a:pPr algn="ctr"/>
            <a:r>
              <a:rPr sz="1300">
                <a:solidFill>
                  <a:srgbClr val="232328"/>
                </a:solidFill>
                <a:latin typeface="Aptos"/>
              </a:rPr>
              <a:t>Cadrage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80360" y="1417320"/>
            <a:ext cx="1920240" cy="1325880"/>
          </a:xfrm>
          <a:prstGeom prst="roundRect">
            <a:avLst/>
          </a:prstGeom>
          <a:solidFill>
            <a:srgbClr val="E1F0FF"/>
          </a:solidFill>
          <a:ln w="19050">
            <a:solidFill>
              <a:srgbClr val="287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600" b="1">
                <a:solidFill>
                  <a:srgbClr val="192D4B"/>
                </a:solidFill>
                <a:latin typeface="Aptos"/>
              </a:rPr>
              <a:t>S2</a:t>
            </a:r>
          </a:p>
          <a:p>
            <a:pPr algn="ctr"/>
            <a:r>
              <a:rPr sz="1300">
                <a:solidFill>
                  <a:srgbClr val="232328"/>
                </a:solidFill>
                <a:latin typeface="Aptos"/>
              </a:rPr>
              <a:t>Veille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417320"/>
            <a:ext cx="1920240" cy="1325880"/>
          </a:xfrm>
          <a:prstGeom prst="roundRect">
            <a:avLst/>
          </a:prstGeom>
          <a:solidFill>
            <a:srgbClr val="E1F0FF"/>
          </a:solidFill>
          <a:ln w="19050">
            <a:solidFill>
              <a:srgbClr val="287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600" b="1">
                <a:solidFill>
                  <a:srgbClr val="192D4B"/>
                </a:solidFill>
                <a:latin typeface="Aptos"/>
              </a:rPr>
              <a:t>S3</a:t>
            </a:r>
          </a:p>
          <a:p>
            <a:pPr algn="ctr"/>
            <a:r>
              <a:rPr sz="1300">
                <a:solidFill>
                  <a:srgbClr val="232328"/>
                </a:solidFill>
                <a:latin typeface="Aptos"/>
              </a:rPr>
              <a:t>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60920" y="1417320"/>
            <a:ext cx="1920240" cy="1325880"/>
          </a:xfrm>
          <a:prstGeom prst="roundRect">
            <a:avLst/>
          </a:prstGeom>
          <a:solidFill>
            <a:srgbClr val="E1F0FF"/>
          </a:solidFill>
          <a:ln w="19050">
            <a:solidFill>
              <a:srgbClr val="287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600" b="1">
                <a:solidFill>
                  <a:srgbClr val="192D4B"/>
                </a:solidFill>
                <a:latin typeface="Aptos"/>
              </a:rPr>
              <a:t>S4</a:t>
            </a:r>
          </a:p>
          <a:p>
            <a:pPr algn="ctr"/>
            <a:r>
              <a:rPr sz="1300">
                <a:solidFill>
                  <a:srgbClr val="232328"/>
                </a:solidFill>
                <a:latin typeface="Aptos"/>
              </a:rPr>
              <a:t>Backlog &amp; coûts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0" y="1417320"/>
            <a:ext cx="1920240" cy="1325880"/>
          </a:xfrm>
          <a:prstGeom prst="roundRect">
            <a:avLst/>
          </a:prstGeom>
          <a:solidFill>
            <a:srgbClr val="E1F0FF"/>
          </a:solidFill>
          <a:ln w="19050">
            <a:solidFill>
              <a:srgbClr val="287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600" b="1">
                <a:solidFill>
                  <a:srgbClr val="192D4B"/>
                </a:solidFill>
                <a:latin typeface="Aptos"/>
              </a:rPr>
              <a:t>S5–S6</a:t>
            </a:r>
          </a:p>
          <a:p>
            <a:pPr algn="ctr"/>
            <a:r>
              <a:rPr sz="1300">
                <a:solidFill>
                  <a:srgbClr val="232328"/>
                </a:solidFill>
                <a:latin typeface="Aptos"/>
              </a:rPr>
              <a:t>Mémoire + géographie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429000"/>
            <a:ext cx="1920240" cy="1325880"/>
          </a:xfrm>
          <a:prstGeom prst="roundRect">
            <a:avLst/>
          </a:prstGeom>
          <a:solidFill>
            <a:srgbClr val="E4F6EB"/>
          </a:solidFill>
          <a:ln w="19050">
            <a:solidFill>
              <a:srgbClr val="2D9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600" b="1">
                <a:solidFill>
                  <a:srgbClr val="192D4B"/>
                </a:solidFill>
                <a:latin typeface="Aptos"/>
              </a:rPr>
              <a:t>S7</a:t>
            </a:r>
          </a:p>
          <a:p>
            <a:pPr algn="ctr"/>
            <a:r>
              <a:rPr sz="1300">
                <a:solidFill>
                  <a:srgbClr val="232328"/>
                </a:solidFill>
                <a:latin typeface="Aptos"/>
              </a:rPr>
              <a:t>Recherche 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429000"/>
            <a:ext cx="1920240" cy="1325880"/>
          </a:xfrm>
          <a:prstGeom prst="roundRect">
            <a:avLst/>
          </a:prstGeom>
          <a:solidFill>
            <a:srgbClr val="E4F6EB"/>
          </a:solidFill>
          <a:ln w="19050">
            <a:solidFill>
              <a:srgbClr val="2D9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600" b="1">
                <a:solidFill>
                  <a:srgbClr val="192D4B"/>
                </a:solidFill>
                <a:latin typeface="Aptos"/>
              </a:rPr>
              <a:t>S8</a:t>
            </a:r>
          </a:p>
          <a:p>
            <a:pPr algn="ctr"/>
            <a:r>
              <a:rPr sz="1300">
                <a:solidFill>
                  <a:srgbClr val="232328"/>
                </a:solidFill>
                <a:latin typeface="Aptos"/>
              </a:rPr>
              <a:t>Monitoring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3429000"/>
            <a:ext cx="1920240" cy="1325880"/>
          </a:xfrm>
          <a:prstGeom prst="roundRect">
            <a:avLst/>
          </a:prstGeom>
          <a:solidFill>
            <a:srgbClr val="E4F6EB"/>
          </a:solidFill>
          <a:ln w="19050">
            <a:solidFill>
              <a:srgbClr val="2D9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600" b="1">
                <a:solidFill>
                  <a:srgbClr val="192D4B"/>
                </a:solidFill>
                <a:latin typeface="Aptos"/>
              </a:rPr>
              <a:t>S9</a:t>
            </a:r>
          </a:p>
          <a:p>
            <a:pPr algn="ctr"/>
            <a:r>
              <a:rPr sz="1300">
                <a:solidFill>
                  <a:srgbClr val="232328"/>
                </a:solidFill>
                <a:latin typeface="Aptos"/>
              </a:rPr>
              <a:t>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3429000"/>
            <a:ext cx="1920240" cy="1325880"/>
          </a:xfrm>
          <a:prstGeom prst="roundRect">
            <a:avLst/>
          </a:prstGeom>
          <a:solidFill>
            <a:srgbClr val="E4F6EB"/>
          </a:solidFill>
          <a:ln w="19050">
            <a:solidFill>
              <a:srgbClr val="2D9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600" b="1">
                <a:solidFill>
                  <a:srgbClr val="192D4B"/>
                </a:solidFill>
                <a:latin typeface="Aptos"/>
              </a:rPr>
              <a:t>S10</a:t>
            </a:r>
          </a:p>
          <a:p>
            <a:pPr algn="ctr"/>
            <a:r>
              <a:rPr sz="1300">
                <a:solidFill>
                  <a:srgbClr val="232328"/>
                </a:solidFill>
                <a:latin typeface="Aptos"/>
              </a:rPr>
              <a:t>Finalisation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86400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232328"/>
                </a:solidFill>
                <a:latin typeface="Aptos"/>
              </a:defRPr>
            </a:pPr>
            <a:r>
              <a:t>• Jalons : cadrage validé → architecture validée → MVP structuré → spécifications validées → validation finale.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0" y="6547104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973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92D4B"/>
                </a:solidFill>
                <a:latin typeface="Aptos Display"/>
              </a:rPr>
              <a:t>8. Estimation financière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200400" cy="1463040"/>
          </a:xfrm>
          <a:prstGeom prst="roundRect">
            <a:avLst/>
          </a:prstGeom>
          <a:solidFill>
            <a:srgbClr val="FFF5E1"/>
          </a:solidFill>
          <a:ln w="19050">
            <a:solidFill>
              <a:srgbClr val="F59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900" b="1">
                <a:solidFill>
                  <a:srgbClr val="192D4B"/>
                </a:solidFill>
                <a:latin typeface="Aptos"/>
              </a:rPr>
              <a:t>BUILD</a:t>
            </a:r>
          </a:p>
          <a:p>
            <a:pPr algn="ctr"/>
            <a:r>
              <a:rPr sz="1800">
                <a:solidFill>
                  <a:srgbClr val="232328"/>
                </a:solidFill>
                <a:latin typeface="Aptos"/>
              </a:rPr>
              <a:t>30 jours × 400 €
= 12 000 € HT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1234440"/>
            <a:ext cx="1645920" cy="502920"/>
          </a:xfrm>
          <a:prstGeom prst="rect">
            <a:avLst/>
          </a:prstGeom>
          <a:solidFill>
            <a:srgbClr val="192D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Charge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89320" y="1234440"/>
            <a:ext cx="1645920" cy="502920"/>
          </a:xfrm>
          <a:prstGeom prst="rect">
            <a:avLst/>
          </a:prstGeom>
          <a:solidFill>
            <a:srgbClr val="192D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Faible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680960" y="1234440"/>
            <a:ext cx="1645920" cy="502920"/>
          </a:xfrm>
          <a:prstGeom prst="rect">
            <a:avLst/>
          </a:prstGeom>
          <a:solidFill>
            <a:srgbClr val="192D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Moyen</a:t>
            </a:r>
          </a:p>
        </p:txBody>
      </p:sp>
      <p:sp>
        <p:nvSpPr>
          <p:cNvPr id="7" name="Rectangle 6"/>
          <p:cNvSpPr/>
          <p:nvPr/>
        </p:nvSpPr>
        <p:spPr>
          <a:xfrm>
            <a:off x="9372600" y="1234440"/>
            <a:ext cx="1645920" cy="502920"/>
          </a:xfrm>
          <a:prstGeom prst="rect">
            <a:avLst/>
          </a:prstGeom>
          <a:solidFill>
            <a:srgbClr val="192D4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737360"/>
            <a:ext cx="1645920" cy="640080"/>
          </a:xfrm>
          <a:prstGeom prst="rect">
            <a:avLst/>
          </a:prstGeom>
          <a:solidFill>
            <a:srgbClr val="F2F4F7"/>
          </a:solidFill>
          <a:ln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32328"/>
                </a:solidFill>
              </a:rPr>
              <a:t>OPEX mensuel estimé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737360"/>
            <a:ext cx="164592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232328"/>
                </a:solidFill>
              </a:rPr>
              <a:t>37 €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737360"/>
            <a:ext cx="164592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232328"/>
                </a:solidFill>
              </a:rPr>
              <a:t>225 €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2600" y="1737360"/>
            <a:ext cx="1645920" cy="640080"/>
          </a:xfrm>
          <a:prstGeom prst="rect">
            <a:avLst/>
          </a:prstGeom>
          <a:solidFill>
            <a:srgbClr val="FFFFFF"/>
          </a:solidFill>
          <a:ln>
            <a:solidFill>
              <a:srgbClr val="D2D7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232328"/>
                </a:solidFill>
              </a:rPr>
              <a:t>1 215 €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46120"/>
            <a:ext cx="100584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328"/>
                </a:solidFill>
                <a:latin typeface="Aptos"/>
              </a:defRPr>
            </a:pPr>
            <a:r>
              <a:t>• Les montants OPEX sont des estimations de cadrage, à affiner avec les calculateurs et les paramètres réels de production.</a:t>
            </a:r>
          </a:p>
          <a:p>
            <a:pPr>
              <a:spcAft>
                <a:spcPts val="700"/>
              </a:spcAft>
              <a:defRPr sz="1700">
                <a:solidFill>
                  <a:srgbClr val="232328"/>
                </a:solidFill>
                <a:latin typeface="Aptos"/>
              </a:defRPr>
            </a:pPr>
            <a:r>
              <a:t>• Optimisation : commencer avec le socle Must-Have et dimensionner les services selon la charge réelle.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0" y="6547104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973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92D4B"/>
                </a:solidFill>
                <a:latin typeface="Aptos Display"/>
              </a:rPr>
              <a:t>9. Du POC au MVP : les choix clés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1645920" cy="1920240"/>
          </a:xfrm>
          <a:prstGeom prst="roundRect">
            <a:avLst/>
          </a:prstGeom>
          <a:solidFill>
            <a:srgbClr val="E1F0FF"/>
          </a:solidFill>
          <a:ln w="19050">
            <a:solidFill>
              <a:srgbClr val="287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600" b="1">
                <a:solidFill>
                  <a:srgbClr val="192D4B"/>
                </a:solidFill>
                <a:latin typeface="Aptos"/>
              </a:rPr>
              <a:t>POC</a:t>
            </a:r>
          </a:p>
          <a:p>
            <a:pPr algn="ctr"/>
            <a:r>
              <a:rPr sz="1200">
                <a:solidFill>
                  <a:srgbClr val="232328"/>
                </a:solidFill>
                <a:latin typeface="Aptos"/>
              </a:rPr>
              <a:t>RAG local
FAISS + Streamlit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41448" y="1828800"/>
            <a:ext cx="1645920" cy="1920240"/>
          </a:xfrm>
          <a:prstGeom prst="roundRect">
            <a:avLst/>
          </a:prstGeom>
          <a:solidFill>
            <a:srgbClr val="FFF5E1"/>
          </a:solidFill>
          <a:ln w="19050">
            <a:solidFill>
              <a:srgbClr val="F59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600" b="1">
                <a:solidFill>
                  <a:srgbClr val="192D4B"/>
                </a:solidFill>
                <a:latin typeface="Aptos"/>
              </a:rPr>
              <a:t>MVP</a:t>
            </a:r>
          </a:p>
          <a:p>
            <a:pPr algn="ctr"/>
            <a:r>
              <a:rPr sz="1200">
                <a:solidFill>
                  <a:srgbClr val="232328"/>
                </a:solidFill>
                <a:latin typeface="Aptos"/>
              </a:rPr>
              <a:t>Architecture Cloud
scalable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79976" y="1828800"/>
            <a:ext cx="1645920" cy="1920240"/>
          </a:xfrm>
          <a:prstGeom prst="roundRect">
            <a:avLst/>
          </a:prstGeom>
          <a:solidFill>
            <a:srgbClr val="F2E8FC"/>
          </a:solidFill>
          <a:ln w="19050">
            <a:solidFill>
              <a:srgbClr val="7D46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600" b="1">
                <a:solidFill>
                  <a:srgbClr val="192D4B"/>
                </a:solidFill>
                <a:latin typeface="Aptos"/>
              </a:rPr>
              <a:t>Mémoire</a:t>
            </a:r>
          </a:p>
          <a:p>
            <a:pPr algn="ctr"/>
            <a:r>
              <a:rPr sz="1200">
                <a:solidFill>
                  <a:srgbClr val="232328"/>
                </a:solidFill>
                <a:latin typeface="Aptos"/>
              </a:rPr>
              <a:t>Redis
questions de suivi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18504" y="1828800"/>
            <a:ext cx="1645920" cy="1920240"/>
          </a:xfrm>
          <a:prstGeom prst="roundRect">
            <a:avLst/>
          </a:prstGeom>
          <a:solidFill>
            <a:srgbClr val="E4F6EB"/>
          </a:solidFill>
          <a:ln w="19050">
            <a:solidFill>
              <a:srgbClr val="2D9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600" b="1">
                <a:solidFill>
                  <a:srgbClr val="192D4B"/>
                </a:solidFill>
                <a:latin typeface="Aptos"/>
              </a:rPr>
              <a:t>Contexte</a:t>
            </a:r>
          </a:p>
          <a:p>
            <a:pPr algn="ctr"/>
            <a:r>
              <a:rPr sz="1200">
                <a:solidFill>
                  <a:srgbClr val="232328"/>
                </a:solidFill>
                <a:latin typeface="Aptos"/>
              </a:rPr>
              <a:t>Qdrant + filtres
géographiques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57032" y="1828800"/>
            <a:ext cx="1645920" cy="1920240"/>
          </a:xfrm>
          <a:prstGeom prst="roundRect">
            <a:avLst/>
          </a:prstGeom>
          <a:solidFill>
            <a:srgbClr val="FCE8EB"/>
          </a:solidFill>
          <a:ln w="19050">
            <a:solidFill>
              <a:srgbClr val="DC4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600" b="1">
                <a:solidFill>
                  <a:srgbClr val="192D4B"/>
                </a:solidFill>
                <a:latin typeface="Aptos"/>
              </a:rPr>
              <a:t>Web</a:t>
            </a:r>
          </a:p>
          <a:p>
            <a:pPr algn="ctr"/>
            <a:r>
              <a:rPr sz="1200">
                <a:solidFill>
                  <a:srgbClr val="232328"/>
                </a:solidFill>
                <a:latin typeface="Aptos"/>
              </a:rPr>
              <a:t>smolagents
si information manquante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95560" y="1828800"/>
            <a:ext cx="1645920" cy="1920240"/>
          </a:xfrm>
          <a:prstGeom prst="roundRect">
            <a:avLst/>
          </a:prstGeom>
          <a:solidFill>
            <a:srgbClr val="F2F4F7"/>
          </a:solidFill>
          <a:ln w="19050">
            <a:solidFill>
              <a:srgbClr val="5F69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1600" b="1">
                <a:solidFill>
                  <a:srgbClr val="192D4B"/>
                </a:solidFill>
                <a:latin typeface="Aptos"/>
              </a:rPr>
              <a:t>Qualité</a:t>
            </a:r>
          </a:p>
          <a:p>
            <a:pPr algn="ctr"/>
            <a:r>
              <a:rPr sz="1200">
                <a:solidFill>
                  <a:srgbClr val="232328"/>
                </a:solidFill>
                <a:latin typeface="Aptos"/>
              </a:rPr>
              <a:t>CloudWatch + LangSmith
suivi continu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8912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232328"/>
                </a:solidFill>
                <a:latin typeface="Aptos"/>
              </a:defRPr>
            </a:pPr>
            <a:r>
              <a:t>• Le MVP ne remplace pas le POC : il consolide le socle existant et répond à ses limites.</a:t>
            </a:r>
          </a:p>
          <a:p>
            <a:pPr>
              <a:spcAft>
                <a:spcPts val="700"/>
              </a:spcAft>
              <a:defRPr sz="1700">
                <a:solidFill>
                  <a:srgbClr val="232328"/>
                </a:solidFill>
                <a:latin typeface="Aptos"/>
              </a:defRPr>
            </a:pPr>
            <a:r>
              <a:t>• Les évolutions plus avancées — recherche hybride, reranking, personnalisation — restent prévues après le socle.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0" y="6547104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973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92D4B"/>
                </a:solidFill>
                <a:latin typeface="Aptos Display"/>
              </a:rPr>
              <a:t>10. Conclusion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325880"/>
            <a:ext cx="3108960" cy="1965960"/>
          </a:xfrm>
          <a:prstGeom prst="roundRect">
            <a:avLst/>
          </a:prstGeom>
          <a:solidFill>
            <a:srgbClr val="E1F0FF"/>
          </a:solidFill>
          <a:ln w="19050">
            <a:solidFill>
              <a:srgbClr val="287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2000" b="1">
                <a:solidFill>
                  <a:srgbClr val="192D4B"/>
                </a:solidFill>
                <a:latin typeface="Aptos"/>
              </a:rPr>
              <a:t>Un MVP faisable</a:t>
            </a:r>
          </a:p>
          <a:p>
            <a:pPr algn="ctr"/>
            <a:r>
              <a:rPr sz="1500">
                <a:solidFill>
                  <a:srgbClr val="232328"/>
                </a:solidFill>
                <a:latin typeface="Aptos"/>
              </a:rPr>
              <a:t>Une architecture claire, scalable et organisée autour des besoins prioritaires.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26280" y="1325880"/>
            <a:ext cx="3108960" cy="1965960"/>
          </a:xfrm>
          <a:prstGeom prst="roundRect">
            <a:avLst/>
          </a:prstGeom>
          <a:solidFill>
            <a:srgbClr val="E4F6EB"/>
          </a:solidFill>
          <a:ln w="19050">
            <a:solidFill>
              <a:srgbClr val="2D9B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2000" b="1">
                <a:solidFill>
                  <a:srgbClr val="192D4B"/>
                </a:solidFill>
                <a:latin typeface="Aptos"/>
              </a:rPr>
              <a:t>Une démarche maîtrisée</a:t>
            </a:r>
          </a:p>
          <a:p>
            <a:pPr algn="ctr"/>
            <a:r>
              <a:rPr sz="1500">
                <a:solidFill>
                  <a:srgbClr val="232328"/>
                </a:solidFill>
                <a:latin typeface="Aptos"/>
              </a:rPr>
              <a:t>Planning, backlog et coûts permettent de cadrer la réalisation.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325880"/>
            <a:ext cx="3108960" cy="1965960"/>
          </a:xfrm>
          <a:prstGeom prst="roundRect">
            <a:avLst/>
          </a:prstGeom>
          <a:solidFill>
            <a:srgbClr val="FFF5E1"/>
          </a:solidFill>
          <a:ln w="19050">
            <a:solidFill>
              <a:srgbClr val="F59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09728"/>
          <a:lstStyle/>
          <a:p>
            <a:pPr algn="ctr"/>
            <a:r>
              <a:rPr sz="2000" b="1">
                <a:solidFill>
                  <a:srgbClr val="192D4B"/>
                </a:solidFill>
                <a:latin typeface="Aptos"/>
              </a:rPr>
              <a:t>Une évolution progressive</a:t>
            </a:r>
          </a:p>
          <a:p>
            <a:pPr algn="ctr"/>
            <a:r>
              <a:rPr sz="1500">
                <a:solidFill>
                  <a:srgbClr val="232328"/>
                </a:solidFill>
                <a:latin typeface="Aptos"/>
              </a:rPr>
              <a:t>Le socle est prioritaire ; les améliorations avancées viennent ensuite.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977639"/>
            <a:ext cx="996696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192D4B"/>
                </a:solidFill>
              </a:rPr>
              <a:t>Merci pour votre attention</a:t>
            </a:r>
          </a:p>
          <a:p>
            <a:pPr algn="ctr"/>
            <a:r>
              <a:rPr sz="2000">
                <a:solidFill>
                  <a:srgbClr val="5F6973"/>
                </a:solidFill>
              </a:rPr>
              <a:t>Questions / échanges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510528"/>
            <a:ext cx="10972800" cy="18288"/>
          </a:xfrm>
          <a:prstGeom prst="rect">
            <a:avLst/>
          </a:prstGeom>
          <a:solidFill>
            <a:srgbClr val="D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0" y="6547104"/>
            <a:ext cx="640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F6973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